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AI Analytics Assistant. The one-line promise: drop in any CSV or Excel file and get analyst-grade output in seconds. In this short overview I'll cover three things — what the app is, how it works end to end, and what results you get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its core the app is a senior data analyst packaged as software. It collapses the manual workflow into one upload. Four things define it: it's domain-aware with a confidence score, it's interactive BI with cross-filtering and an executive view, it's conversational through chat and NL-to-SQL, and it's deliver-ready with branded exports — and it still works without an AI key by falling back to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flow is six steps: upload, auto-clean, detect the domain with a confidence score, compute KPIs and BI-grade charts, let the AI explain the findings, then ask questions or export. Under the hood it's two-tier: the fast deterministic path runs on upload so the dashboard is instant, while expensive AI work runs lazily per tab and is cached — keeping the app responsive and easy on API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result: a dashboard in seconds, fully domain-aware. You get an interactive dashboard with KPI cross-filtering and an executive view, an AI narrative — summary, data story and ranked insights — answers to plain-English questions via NL-to-SQL, and branded PDF/PPTX/Excel exports. It runs locally and deploys free on Streamlit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summarize the three pillars: the intro — a domain-aware analyst app that explains, not just plots. The working — upload, clean, detect, chart instantly, with AI and NL-to-SQL on demand. The results — a dashboard in seconds with cross-filtering, an executive view, and branded exports.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That's the app in three pillars — intro, working, and results. It's live with 'streamlit run app.py' at localhost:8501 and deploys on Streamlit Cloud. Happy to give a live walkthrough on a real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1828800"/>
            <a:ext cx="4389120" cy="4389120"/>
          </a:xfrm>
          <a:prstGeom prst="ellipse">
            <a:avLst/>
          </a:prstGeom>
          <a:solidFill>
            <a:srgbClr val="15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389120"/>
            <a:ext cx="4754880" cy="4754880"/>
          </a:xfrm>
          <a:prstGeom prst="ellipse">
            <a:avLst/>
          </a:prstGeom>
          <a:solidFill>
            <a:srgbClr val="15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1901952"/>
            <a:ext cx="393192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6366F1"/>
                </a:solidFill>
                <a:latin typeface="Segoe UI"/>
              </a:rPr>
              <a:t>APP OVERVIEW · INTRO · WORKING ·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ECEEF6"/>
                </a:solidFill>
                <a:latin typeface="Segoe UI Semibold"/>
              </a:rPr>
              <a:t>AI Analytics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977639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A855F7"/>
                </a:solidFill>
                <a:latin typeface="Segoe UI"/>
              </a:rPr>
              <a:t>Upload any spreadsheet → instant, domain-aware insights.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526280"/>
            <a:ext cx="10241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9AA4BC"/>
                </a:solidFill>
                <a:latin typeface="Segoe UI"/>
              </a:rPr>
              <a:t>An AI analytics workspace that cleans your data, detects the business domain, computes KPIs, builds interactive Power BI-grade charts, writes an executive summary, answers questions in natural language, and exports branded reports.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5715000"/>
            <a:ext cx="224028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8BDF8"/>
                </a:solidFill>
                <a:latin typeface="Segoe UI"/>
              </a:rPr>
              <a:t>Streamlit + Plotly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6976" y="5715000"/>
            <a:ext cx="224028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8BDF8"/>
                </a:solidFill>
                <a:latin typeface="Segoe UI"/>
              </a:rPr>
              <a:t>10 Domains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32704" y="5715000"/>
            <a:ext cx="224028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8BDF8"/>
                </a:solidFill>
                <a:latin typeface="Segoe UI"/>
              </a:rPr>
              <a:t>NL→SQL · RAG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5715000"/>
            <a:ext cx="224028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8BDF8"/>
                </a:solidFill>
                <a:latin typeface="Segoe UI"/>
              </a:rPr>
              <a:t>PDF · PPTX · Excel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2A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B7490"/>
                </a:solidFill>
                <a:latin typeface="Segoe UI"/>
              </a:rPr>
              <a:t>AI Analytics Assistant  ·  v3.0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6B7490"/>
                </a:solidFill>
                <a:latin typeface="Consola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ECEEF6"/>
                </a:solidFill>
                <a:latin typeface="Segoe UI Semibold"/>
              </a:rPr>
              <a:t>App Intro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9AA4BC"/>
                </a:solidFill>
                <a:latin typeface="Segoe UI"/>
              </a:rPr>
              <a:t>What it is, in one screen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566928"/>
            <a:ext cx="2039112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8BDF8"/>
                </a:solidFill>
                <a:latin typeface="Segoe UI"/>
              </a:rPr>
              <a:t>INTRO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B233A"/>
          </a:solidFill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54864" bIns="54864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38BDF8"/>
                </a:solidFill>
                <a:latin typeface="Segoe UI"/>
              </a:rPr>
              <a:t>A senior data analyst, as an app.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ECEEF6"/>
                </a:solidFill>
                <a:latin typeface="Segoe UI"/>
              </a:rPr>
              <a:t>It replaces the slow, manual chain of clean → chart → analyze → write-up with a single upload. One domain-aware engine adapts the KPIs, charts, and AI focus to your data — and explains the findings instead of just plotting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151B2E"/>
          </a:solidFill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54864" bIns="54864"/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0" i="0">
                <a:solidFill>
                  <a:srgbClr val="6366F1"/>
                </a:solidFill>
                <a:latin typeface="Segoe UI"/>
              </a:rPr>
              <a:t>🧠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ECEEF6"/>
                </a:solidFill>
                <a:latin typeface="Segoe UI"/>
              </a:rPr>
              <a:t>Domain-aware</a:t>
            </a:r>
          </a:p>
          <a:p>
            <a:pPr algn="ctr">
              <a:lnSpc>
                <a:spcPct val="122000"/>
              </a:lnSpc>
            </a:pPr>
            <a:r>
              <a:rPr sz="1150" b="0" i="0">
                <a:solidFill>
                  <a:srgbClr val="9AA4BC"/>
                </a:solidFill>
                <a:latin typeface="Segoe UI"/>
              </a:rPr>
              <a:t>Detects 10 business domains with a confidence score and tailors insights.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338328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151B2E"/>
          </a:solidFill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54864" bIns="54864"/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0" i="0">
                <a:solidFill>
                  <a:srgbClr val="6366F1"/>
                </a:solidFill>
                <a:latin typeface="Segoe UI"/>
              </a:rPr>
              <a:t>📊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ECEEF6"/>
                </a:solidFill>
                <a:latin typeface="Segoe UI"/>
              </a:rPr>
              <a:t>Interactive BI</a:t>
            </a:r>
          </a:p>
          <a:p>
            <a:pPr algn="ctr">
              <a:lnSpc>
                <a:spcPct val="122000"/>
              </a:lnSpc>
            </a:pPr>
            <a:r>
              <a:rPr sz="1150" b="0" i="0">
                <a:solidFill>
                  <a:srgbClr val="9AA4BC"/>
                </a:solidFill>
                <a:latin typeface="Segoe UI"/>
              </a:rPr>
              <a:t>Power BI-grade charts, KPI cross-filtering, one-screen Executive 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338328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151B2E"/>
          </a:solidFill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54864" bIns="54864"/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0" i="0">
                <a:solidFill>
                  <a:srgbClr val="6366F1"/>
                </a:solidFill>
                <a:latin typeface="Segoe UI"/>
              </a:rPr>
              <a:t>💬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ECEEF6"/>
                </a:solidFill>
                <a:latin typeface="Segoe UI"/>
              </a:rPr>
              <a:t>Conversational</a:t>
            </a:r>
          </a:p>
          <a:p>
            <a:pPr algn="ctr">
              <a:lnSpc>
                <a:spcPct val="122000"/>
              </a:lnSpc>
            </a:pPr>
            <a:r>
              <a:rPr sz="1150" b="0" i="0">
                <a:solidFill>
                  <a:srgbClr val="9AA4BC"/>
                </a:solidFill>
                <a:latin typeface="Segoe UI"/>
              </a:rPr>
              <a:t>NL chat, NL→SQL on DuckDB, and a lightweight RAG insight engine.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34856" y="338328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151B2E"/>
          </a:solidFill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54864" bIns="54864"/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0" i="0">
                <a:solidFill>
                  <a:srgbClr val="6366F1"/>
                </a:solidFill>
                <a:latin typeface="Segoe UI"/>
              </a:rPr>
              <a:t>📤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ECEEF6"/>
                </a:solidFill>
                <a:latin typeface="Segoe UI"/>
              </a:rPr>
              <a:t>Deliver-ready</a:t>
            </a:r>
          </a:p>
          <a:p>
            <a:pPr algn="ctr">
              <a:lnSpc>
                <a:spcPct val="122000"/>
              </a:lnSpc>
            </a:pPr>
            <a:r>
              <a:rPr sz="1150" b="0" i="0">
                <a:solidFill>
                  <a:srgbClr val="9AA4BC"/>
                </a:solidFill>
                <a:latin typeface="Segoe UI"/>
              </a:rPr>
              <a:t>Branded XLSX / PDF / PPTX exports — runs even with no AI key.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2A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B7490"/>
                </a:solidFill>
                <a:latin typeface="Segoe UI"/>
              </a:rPr>
              <a:t>AI Analytics Assistant  ·  v3.0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6B7490"/>
                </a:solidFill>
                <a:latin typeface="Consola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ECEEF6"/>
                </a:solidFill>
                <a:latin typeface="Segoe UI Semibold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9AA4BC"/>
                </a:solidFill>
                <a:latin typeface="Segoe UI"/>
              </a:rPr>
              <a:t>From upload to decision — one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566928"/>
            <a:ext cx="2039112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8BDF8"/>
                </a:solidFill>
                <a:latin typeface="Segoe UI"/>
              </a:rPr>
              <a:t>WORKING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700784" cy="1600200"/>
          </a:xfrm>
          <a:prstGeom prst="roundRect">
            <a:avLst>
              <a:gd name="adj" fmla="val 6000"/>
            </a:avLst>
          </a:prstGeom>
          <a:solidFill>
            <a:srgbClr val="151B2E"/>
          </a:solidFill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6366F1"/>
                </a:solidFill>
                <a:latin typeface="Segoe UI"/>
              </a:rPr>
              <a:t>①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ECEEF6"/>
                </a:solidFill>
                <a:latin typeface="Segoe UI"/>
              </a:rPr>
              <a:t>Upload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9AA4BC"/>
                </a:solidFill>
                <a:latin typeface="Segoe UI"/>
              </a:rPr>
              <a:t>CSV / XLSX</a:t>
            </a:r>
          </a:p>
        </p:txBody>
      </p:sp>
      <p:sp>
        <p:nvSpPr>
          <p:cNvPr id="9" name="Chevron 8"/>
          <p:cNvSpPr/>
          <p:nvPr/>
        </p:nvSpPr>
        <p:spPr>
          <a:xfrm>
            <a:off x="2240280" y="2560320"/>
            <a:ext cx="146304" cy="457200"/>
          </a:xfrm>
          <a:prstGeom prst="chevron">
            <a:avLst/>
          </a:prstGeom>
          <a:solidFill>
            <a:srgbClr val="2A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00300" y="2011680"/>
            <a:ext cx="1700784" cy="1600200"/>
          </a:xfrm>
          <a:prstGeom prst="roundRect">
            <a:avLst>
              <a:gd name="adj" fmla="val 6000"/>
            </a:avLst>
          </a:prstGeom>
          <a:solidFill>
            <a:srgbClr val="151B2E"/>
          </a:solidFill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6366F1"/>
                </a:solidFill>
                <a:latin typeface="Segoe UI"/>
              </a:rPr>
              <a:t>②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ECEEF6"/>
                </a:solidFill>
                <a:latin typeface="Segoe UI"/>
              </a:rPr>
              <a:t>Auto-Clean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9AA4BC"/>
                </a:solidFill>
                <a:latin typeface="Segoe UI"/>
              </a:rPr>
              <a:t>type-infer · dedupe</a:t>
            </a:r>
          </a:p>
        </p:txBody>
      </p:sp>
      <p:sp>
        <p:nvSpPr>
          <p:cNvPr id="11" name="Chevron 10"/>
          <p:cNvSpPr/>
          <p:nvPr/>
        </p:nvSpPr>
        <p:spPr>
          <a:xfrm>
            <a:off x="4091940" y="2560320"/>
            <a:ext cx="146304" cy="457200"/>
          </a:xfrm>
          <a:prstGeom prst="chevron">
            <a:avLst/>
          </a:prstGeom>
          <a:solidFill>
            <a:srgbClr val="2A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60" y="2011680"/>
            <a:ext cx="1700784" cy="1600200"/>
          </a:xfrm>
          <a:prstGeom prst="roundRect">
            <a:avLst>
              <a:gd name="adj" fmla="val 6000"/>
            </a:avLst>
          </a:prstGeom>
          <a:solidFill>
            <a:srgbClr val="151B2E"/>
          </a:solidFill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6366F1"/>
                </a:solidFill>
                <a:latin typeface="Segoe UI"/>
              </a:rPr>
              <a:t>③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ECEEF6"/>
                </a:solidFill>
                <a:latin typeface="Segoe UI"/>
              </a:rPr>
              <a:t>Detect Domain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9AA4BC"/>
                </a:solidFill>
                <a:latin typeface="Segoe UI"/>
              </a:rPr>
              <a:t>+ confidence</a:t>
            </a:r>
          </a:p>
        </p:txBody>
      </p:sp>
      <p:sp>
        <p:nvSpPr>
          <p:cNvPr id="13" name="Chevron 12"/>
          <p:cNvSpPr/>
          <p:nvPr/>
        </p:nvSpPr>
        <p:spPr>
          <a:xfrm>
            <a:off x="5943600" y="2560320"/>
            <a:ext cx="146304" cy="457200"/>
          </a:xfrm>
          <a:prstGeom prst="chevron">
            <a:avLst/>
          </a:prstGeom>
          <a:solidFill>
            <a:srgbClr val="2A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03620" y="2011680"/>
            <a:ext cx="1700784" cy="1600200"/>
          </a:xfrm>
          <a:prstGeom prst="roundRect">
            <a:avLst>
              <a:gd name="adj" fmla="val 6000"/>
            </a:avLst>
          </a:prstGeom>
          <a:solidFill>
            <a:srgbClr val="151B2E"/>
          </a:solidFill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6366F1"/>
                </a:solidFill>
                <a:latin typeface="Segoe UI"/>
              </a:rPr>
              <a:t>④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ECEEF6"/>
                </a:solidFill>
                <a:latin typeface="Segoe UI"/>
              </a:rPr>
              <a:t>KPIs &amp; Charts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9AA4BC"/>
                </a:solidFill>
                <a:latin typeface="Segoe UI"/>
              </a:rPr>
              <a:t>BI-grade visuals</a:t>
            </a:r>
          </a:p>
        </p:txBody>
      </p:sp>
      <p:sp>
        <p:nvSpPr>
          <p:cNvPr id="15" name="Chevron 14"/>
          <p:cNvSpPr/>
          <p:nvPr/>
        </p:nvSpPr>
        <p:spPr>
          <a:xfrm>
            <a:off x="7795260" y="2560320"/>
            <a:ext cx="146304" cy="457200"/>
          </a:xfrm>
          <a:prstGeom prst="chevron">
            <a:avLst/>
          </a:prstGeom>
          <a:solidFill>
            <a:srgbClr val="2A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80" y="2011680"/>
            <a:ext cx="1700784" cy="1600200"/>
          </a:xfrm>
          <a:prstGeom prst="roundRect">
            <a:avLst>
              <a:gd name="adj" fmla="val 6000"/>
            </a:avLst>
          </a:prstGeom>
          <a:solidFill>
            <a:srgbClr val="151B2E"/>
          </a:solidFill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6366F1"/>
                </a:solidFill>
                <a:latin typeface="Segoe UI"/>
              </a:rPr>
              <a:t>⑤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ECEEF6"/>
                </a:solidFill>
                <a:latin typeface="Segoe UI"/>
              </a:rPr>
              <a:t>AI Explain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9AA4BC"/>
                </a:solidFill>
                <a:latin typeface="Segoe UI"/>
              </a:rPr>
              <a:t>summary · story</a:t>
            </a:r>
          </a:p>
        </p:txBody>
      </p:sp>
      <p:sp>
        <p:nvSpPr>
          <p:cNvPr id="17" name="Chevron 16"/>
          <p:cNvSpPr/>
          <p:nvPr/>
        </p:nvSpPr>
        <p:spPr>
          <a:xfrm>
            <a:off x="9646920" y="2560320"/>
            <a:ext cx="146304" cy="457200"/>
          </a:xfrm>
          <a:prstGeom prst="chevron">
            <a:avLst/>
          </a:prstGeom>
          <a:solidFill>
            <a:srgbClr val="2A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06940" y="2011680"/>
            <a:ext cx="1700784" cy="1600200"/>
          </a:xfrm>
          <a:prstGeom prst="roundRect">
            <a:avLst>
              <a:gd name="adj" fmla="val 6000"/>
            </a:avLst>
          </a:prstGeom>
          <a:solidFill>
            <a:srgbClr val="151B2E"/>
          </a:solidFill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6366F1"/>
                </a:solidFill>
                <a:latin typeface="Segoe UI"/>
              </a:rPr>
              <a:t>⑥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ECEEF6"/>
                </a:solidFill>
                <a:latin typeface="Segoe UI"/>
              </a:rPr>
              <a:t>Ask &amp; Export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9AA4BC"/>
                </a:solidFill>
                <a:latin typeface="Segoe UI"/>
              </a:rPr>
              <a:t>NL→SQL · reports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14800"/>
            <a:ext cx="5449824" cy="1874519"/>
          </a:xfrm>
          <a:prstGeom prst="roundRect">
            <a:avLst>
              <a:gd name="adj" fmla="val 6000"/>
            </a:avLst>
          </a:prstGeom>
          <a:solidFill>
            <a:srgbClr val="1B233A"/>
          </a:solidFill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54864" bIns="54864"/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1" i="0">
                <a:solidFill>
                  <a:srgbClr val="38BDF8"/>
                </a:solidFill>
                <a:latin typeface="Segoe UI"/>
              </a:rPr>
              <a:t>⚡  Fast path — on upload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CEEF6"/>
                </a:solidFill>
                <a:latin typeface="Segoe UI"/>
              </a:rPr>
              <a:t>Cleaning, domain detection, profiling, KPIs, analytics and charts run instantly so the dashboard appears in seconds.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4114800"/>
            <a:ext cx="5449824" cy="1874519"/>
          </a:xfrm>
          <a:prstGeom prst="roundRect">
            <a:avLst>
              <a:gd name="adj" fmla="val 6000"/>
            </a:avLst>
          </a:prstGeom>
          <a:solidFill>
            <a:srgbClr val="1B233A"/>
          </a:solidFill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54864" bIns="54864"/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🧠  On demand — per tab (cached)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CEEF6"/>
                </a:solidFill>
                <a:latin typeface="Segoe UI"/>
              </a:rPr>
              <a:t>Expensive LLM work — executive summary, data story, insights, NL→SQL and exports — runs lazily only when you open that tab.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2A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B7490"/>
                </a:solidFill>
                <a:latin typeface="Segoe UI"/>
              </a:rPr>
              <a:t>AI Analytics Assistant  ·  v3.0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6B7490"/>
                </a:solidFill>
                <a:latin typeface="Consola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ECEEF6"/>
                </a:solidFill>
                <a:latin typeface="Segoe UI Semibold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9AA4BC"/>
                </a:solidFill>
                <a:latin typeface="Segoe UI"/>
              </a:rPr>
              <a:t>What you get back — in seconds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566928"/>
            <a:ext cx="2039112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8BDF8"/>
                </a:solidFill>
                <a:latin typeface="Segoe UI"/>
              </a:rPr>
              <a:t>RESULTS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151B2E"/>
          </a:solidFill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 i="0">
                <a:solidFill>
                  <a:srgbClr val="6366F1"/>
                </a:solidFill>
                <a:latin typeface="Consolas"/>
              </a:rPr>
              <a:t>Seconds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AA4BC"/>
                </a:solidFill>
                <a:latin typeface="Segoe UI"/>
              </a:rPr>
              <a:t>to first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18288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151B2E"/>
          </a:solidFill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 i="0">
                <a:solidFill>
                  <a:srgbClr val="38BDF8"/>
                </a:solidFill>
                <a:latin typeface="Consolas"/>
              </a:rPr>
              <a:t>10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AA4BC"/>
                </a:solidFill>
                <a:latin typeface="Segoe UI"/>
              </a:rPr>
              <a:t>business domains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8288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151B2E"/>
          </a:solidFill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 i="0">
                <a:solidFill>
                  <a:srgbClr val="A855F7"/>
                </a:solidFill>
                <a:latin typeface="Consolas"/>
              </a:rPr>
              <a:t>3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AA4BC"/>
                </a:solidFill>
                <a:latin typeface="Segoe UI"/>
              </a:rPr>
              <a:t>export formats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34856" y="18288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151B2E"/>
          </a:solidFill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 i="0">
                <a:solidFill>
                  <a:srgbClr val="34D399"/>
                </a:solidFill>
                <a:latin typeface="Consolas"/>
              </a:rPr>
              <a:t>0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AA4BC"/>
                </a:solidFill>
                <a:latin typeface="Segoe UI"/>
              </a:rPr>
              <a:t>API key needed to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0440"/>
            <a:ext cx="11091672" cy="2468880"/>
          </a:xfrm>
          <a:prstGeom prst="roundRect">
            <a:avLst>
              <a:gd name="adj" fmla="val 6000"/>
            </a:avLst>
          </a:prstGeom>
          <a:solidFill>
            <a:srgbClr val="1B233A"/>
          </a:solidFill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54864" bIns="54864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Every upload produces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 i="0">
                <a:solidFill>
                  <a:srgbClr val="ECEEF6"/>
                </a:solidFill>
                <a:latin typeface="Segoe UI"/>
              </a:rPr>
              <a:t>•  Interactive dashboard — KPI cards, smart charts, data-quality score, KPI→chart cross-filtering &amp; a one-screen Executive View.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 i="0">
                <a:solidFill>
                  <a:srgbClr val="ECEEF6"/>
                </a:solidFill>
                <a:latin typeface="Segoe UI"/>
              </a:rPr>
              <a:t>•  AI narrative — executive summary, chart-by-chart data story, and ranked business insights with recommendations.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 i="0">
                <a:solidFill>
                  <a:srgbClr val="ECEEF6"/>
                </a:solidFill>
                <a:latin typeface="Segoe UI"/>
              </a:rPr>
              <a:t>•  Answers on demand — ask in plain English; NL→SQL runs on DuckDB and a light RAG engine returns explained results.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CEEF6"/>
                </a:solidFill>
                <a:latin typeface="Segoe UI"/>
              </a:rPr>
              <a:t>•  Branded deliverables — export a logo-and-palette PDF, PPTX or Excel report ready to share.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2A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B7490"/>
                </a:solidFill>
                <a:latin typeface="Segoe UI"/>
              </a:rPr>
              <a:t>AI Analytics Assistant  ·  v3.0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6B7490"/>
                </a:solidFill>
                <a:latin typeface="Consola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ECEEF6"/>
                </a:solidFill>
                <a:latin typeface="Segoe UI Semibold"/>
              </a:rPr>
              <a:t>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9AA4BC"/>
                </a:solidFill>
                <a:latin typeface="Segoe UI"/>
              </a:rPr>
              <a:t>Intro · Working · Results — summarized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566928"/>
            <a:ext cx="2039112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8BDF8"/>
                </a:solidFill>
                <a:latin typeface="Segoe UI"/>
              </a:rPr>
              <a:t>RECAP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3584448" cy="4023360"/>
          </a:xfrm>
          <a:prstGeom prst="roundRect">
            <a:avLst>
              <a:gd name="adj" fmla="val 6000"/>
            </a:avLst>
          </a:prstGeom>
          <a:solidFill>
            <a:srgbClr val="151B2E"/>
          </a:solidFill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3584448" cy="457200"/>
          </a:xfrm>
          <a:prstGeom prst="roundRect">
            <a:avLst>
              <a:gd name="adj" fmla="val 12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App Intro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60319"/>
            <a:ext cx="31821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 i="0">
                <a:solidFill>
                  <a:srgbClr val="ECEEF6"/>
                </a:solidFill>
                <a:latin typeface="Segoe UI"/>
              </a:rPr>
              <a:t>•  Senior analyst, as an app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 i="0">
                <a:solidFill>
                  <a:srgbClr val="ECEEF6"/>
                </a:solidFill>
                <a:latin typeface="Segoe UI"/>
              </a:rPr>
              <a:t>•  Domain-aware across 10 verticals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 i="0">
                <a:solidFill>
                  <a:srgbClr val="ECEEF6"/>
                </a:solidFill>
                <a:latin typeface="Segoe UI"/>
              </a:rPr>
              <a:t>•  Explains findings, not just charts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74519"/>
            <a:ext cx="3584448" cy="4023360"/>
          </a:xfrm>
          <a:prstGeom prst="roundRect">
            <a:avLst>
              <a:gd name="adj" fmla="val 6000"/>
            </a:avLst>
          </a:prstGeom>
          <a:solidFill>
            <a:srgbClr val="151B2E"/>
          </a:solidFill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874519"/>
            <a:ext cx="3584448" cy="457200"/>
          </a:xfrm>
          <a:prstGeom prst="roundRect">
            <a:avLst>
              <a:gd name="adj" fmla="val 12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560319"/>
            <a:ext cx="31821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 i="0">
                <a:solidFill>
                  <a:srgbClr val="ECEEF6"/>
                </a:solidFill>
                <a:latin typeface="Segoe UI"/>
              </a:rPr>
              <a:t>•  Upload → clean → detect domain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 i="0">
                <a:solidFill>
                  <a:srgbClr val="ECEEF6"/>
                </a:solidFill>
                <a:latin typeface="Segoe UI"/>
              </a:rPr>
              <a:t>•  KPIs + BI-grade charts instantly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 i="0">
                <a:solidFill>
                  <a:srgbClr val="ECEEF6"/>
                </a:solidFill>
                <a:latin typeface="Segoe UI"/>
              </a:rPr>
              <a:t>•  AI + NL→SQL run on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74519"/>
            <a:ext cx="3584448" cy="4023360"/>
          </a:xfrm>
          <a:prstGeom prst="roundRect">
            <a:avLst>
              <a:gd name="adj" fmla="val 6000"/>
            </a:avLst>
          </a:prstGeom>
          <a:solidFill>
            <a:srgbClr val="151B2E"/>
          </a:solidFill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584448" cy="457200"/>
          </a:xfrm>
          <a:prstGeom prst="roundRect">
            <a:avLst>
              <a:gd name="adj" fmla="val 12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560319"/>
            <a:ext cx="31821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 i="0">
                <a:solidFill>
                  <a:srgbClr val="ECEEF6"/>
                </a:solidFill>
                <a:latin typeface="Segoe UI"/>
              </a:rPr>
              <a:t>•  Dashboard in seconds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 i="0">
                <a:solidFill>
                  <a:srgbClr val="ECEEF6"/>
                </a:solidFill>
                <a:latin typeface="Segoe UI"/>
              </a:rPr>
              <a:t>•  Cross-filter + Executive View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 i="0">
                <a:solidFill>
                  <a:srgbClr val="ECEEF6"/>
                </a:solidFill>
                <a:latin typeface="Segoe UI"/>
              </a:rPr>
              <a:t>•  Branded PDF / PPTX / Excel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2A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B7490"/>
                </a:solidFill>
                <a:latin typeface="Segoe UI"/>
              </a:rPr>
              <a:t>AI Analytics Assistant  ·  v3.0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6B7490"/>
                </a:solidFill>
                <a:latin typeface="Consola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645920"/>
            <a:ext cx="4389120" cy="4389120"/>
          </a:xfrm>
          <a:prstGeom prst="ellipse">
            <a:avLst/>
          </a:prstGeom>
          <a:solidFill>
            <a:srgbClr val="15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4389120" cy="4389120"/>
          </a:xfrm>
          <a:prstGeom prst="ellipse">
            <a:avLst/>
          </a:prstGeom>
          <a:solidFill>
            <a:srgbClr val="15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ECEEF6"/>
                </a:solidFill>
                <a:latin typeface="Segoe UI Semibold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1605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55F7"/>
                </a:solidFill>
                <a:latin typeface="Segoe UI"/>
              </a:rPr>
              <a:t>From raw data to a decision — automatically, in one workspace.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4892040"/>
            <a:ext cx="429768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38BDF8"/>
                </a:solidFill>
                <a:latin typeface="Segoe UI"/>
              </a:rPr>
              <a:t>▶  streamlit run app.py  ·  localhost:8501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2A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B7490"/>
                </a:solidFill>
                <a:latin typeface="Segoe UI"/>
              </a:rPr>
              <a:t>AI Analytics Assistant  ·  v3.0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6B7490"/>
                </a:solidFill>
                <a:latin typeface="Consolas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