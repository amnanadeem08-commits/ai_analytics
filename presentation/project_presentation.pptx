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is the AI Data Reporting &amp; Analytics Assistant — a Streamlit app that acts like a senior data analyst. The core promise: upload any CSV or Excel file and get analyst-grade output in seconds, with zero manual setup. I'll cover the problem, the solution, architecture, tech stack, workflow, features, results, scalability, and business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status quo is slow and manual. A competent analyst spends hours per file on cleaning, KPI definition, charting, and writing a narrative. Business teams can't self-serve, so they wait. The tooling is fragmented across spreadsheets, BI suites, notebooks and slide software. And critically — most tools stop at charts; they don't explain the 'so what'. That gap is what this project closes.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collapses the whole analyst workflow into a single upload. Five stages: understand, analyze, explain, and deliver. The differentiators are: it's domain-aware across 10 verticals; it explains findings rather than just plotting them; it's conversational via chat, NL-to-SQL on DuckDB, and a light RAG engine; and it degrades gracefully to statistical summaries when no AI key is present.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is strictly layered. The Streamlit UI dispatches to tabs but holds no business logic. pipeline.py orchestrates everything: it runs the fast, deterministic work eagerly and defers expensive LLM work behind lazy ensure_* getters, all cached. Below that sit pure analytics services, then the AI engines including NL-to-SQL on DuckDB and a FAISS-backed light RAG. A single LLM gateway abstracts three providers with fallback and retries. The bottom layer is storage and output. Data flows top-to-bottom; each layer is independently testable.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 is entirely Python 3.11. Streamlit drives the UI. Pandas, NumPy, SciPy and scikit-learn power data and statistics. Plotly plus Kaleido handle interactive and static charts. The AI layer supports Anthropic, OpenAI and OpenRouter with automatic fallback. DuckDB executes generated SQL in-memory; FAISS with a hashing vectorizer powers the light RAG. Reporting uses ReportLab, python-pptx and openpyxl. Everything is pinned in requirements.txt for reproducible deploys.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Two-tier workflow. On upload, only fast deterministic work runs: cleaning, domain detection, profiling, KPIs, analytics and charts — so the dashboard appears almost instantly. Expensive LLM work — the executive summary, data story, insights, NL-to-SQL, RAG answers and report export — runs lazily, only when the user opens that tab, and is cached in session state. This keeps the app responsive and avoids burning API rate limits. Filters recompute only the affected outputs via a signature-keyed cache.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engine cleans and types data automatically. A Smart Intelligence layer detects the vertical with a confidence score and filters out domain-irrelevant framing. KPIs are domain-aware, and the visuals are Tableau/Power BI-grade Plotly charts. The dashboard is interactive: click a KPI to cross-filter every chart, or flip the Executive View toggle for a single-screen summary. On the AI side: executive summary and data story, ranked business insights with recommendations, and the Data Copilot — natural-language chat, NL-to-SQL on DuckDB, and a light RAG engine — plus fully branded multi-format export.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key screens to capture: the main dashboard with KPI cards and charts, the Data Copilot showing a natural-language-to-SQL result, the Business Insights panel, and a generated branded export. To swap the placeholders for real images, drop PNG/JPG files into presentation/screenshots/ and re-run create_ppt.py — the first four images auto-fill these frames.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live demo: upload a dataset and the dashboard appears in seconds, fully domain-aware. The data story and insights tabs generate AI narratives on demand. The Copilot turns a plain-English question into SQL, runs it on DuckDB, and returns a result table with an explanation. Finally, export produces a branded PDF, PPTX or Excel report. It runs locally at localhost:8501 and deploys free on Streamlit Cloud.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Scalability is already planned in ROADMAP_V4. Phase 2 adds predictive intelligence — ARIMA/Prophet forecasting, churn and segmentation, and what-if scenarios. Phase 3 adds exploration depth: drill-down, cohorts and pivot tables. Phases 4–5 cover collaboration and scale: auth and multi-user workspaces, scheduled and Power BI exports, and swapping in a managed vector DB and warehouse backends with async LLM calls. The decoupled service architecture means each of these slots in cleanly.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audiences, three angles. For the business: it converts hours of analyst time into seconds and lets non-technical teams self-serve. For a client: it produces white-label branded reports, deploys in minutes, and runs with or without an AI budget thanks to graceful fallback. For a portfolio: it demonstrates end-to-end AI and data engineering — clean layered architecture, performance caching, LLM orchestration with fallback, RAG, NL-to-SQL, and BI reporting in one product.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To recap: this turns raw data into a decision automatically, in a single workspace — clean, analyze, explain, converse, and export. It's live with 'streamlit run app.py' at localhost:8501 and deploys on Streamlit Cloud. Happy to walk through the code, the architecture, or a live dataset. Replace the contact line with your details before sending.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Oval 1"/>
          <p:cNvSpPr/>
          <p:nvPr/>
        </p:nvSpPr>
        <p:spPr>
          <a:xfrm>
            <a:off x="-914400" y="-1828800"/>
            <a:ext cx="4389120" cy="4389120"/>
          </a:xfrm>
          <a:prstGeom prst="ellipse">
            <a:avLst/>
          </a:prstGeom>
          <a:solidFill>
            <a:srgbClr val="15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0" y="4389120"/>
            <a:ext cx="4754880" cy="4754880"/>
          </a:xfrm>
          <a:prstGeom prst="ellipse">
            <a:avLst/>
          </a:prstGeom>
          <a:solidFill>
            <a:srgbClr val="15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063898" cy="731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63898" y="0"/>
            <a:ext cx="4063898" cy="7315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7796" y="0"/>
            <a:ext cx="4063898"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28800"/>
            <a:ext cx="868680" cy="868680"/>
          </a:xfrm>
          <a:prstGeom prst="roundRect">
            <a:avLst>
              <a:gd name="adj" fmla="val 22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3000" b="0" i="0">
                <a:solidFill>
                  <a:srgbClr val="FFFFFF"/>
                </a:solidFill>
                <a:latin typeface="Segoe UI"/>
              </a:rPr>
              <a:t>📊</a:t>
            </a:r>
          </a:p>
        </p:txBody>
      </p:sp>
      <p:sp>
        <p:nvSpPr>
          <p:cNvPr id="8" name="Rounded Rectangle 7"/>
          <p:cNvSpPr/>
          <p:nvPr/>
        </p:nvSpPr>
        <p:spPr>
          <a:xfrm>
            <a:off x="1874519" y="1993392"/>
            <a:ext cx="2651760" cy="347472"/>
          </a:xfrm>
          <a:prstGeom prst="roundRect">
            <a:avLst>
              <a:gd name="adj" fmla="val 50000"/>
            </a:avLst>
          </a:prstGeom>
          <a:no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54864" bIns="54864"/>
          <a:lstStyle/>
          <a:p>
            <a:pPr algn="ctr">
              <a:lnSpc>
                <a:spcPct val="100000"/>
              </a:lnSpc>
            </a:pPr>
            <a:r>
              <a:rPr sz="1050" b="1" i="0">
                <a:solidFill>
                  <a:srgbClr val="6366F1"/>
                </a:solidFill>
                <a:latin typeface="Segoe UI"/>
              </a:rPr>
              <a:t>AI · DATA ANALYTICS · BI</a:t>
            </a:r>
          </a:p>
        </p:txBody>
      </p:sp>
      <p:sp>
        <p:nvSpPr>
          <p:cNvPr id="9" name="TextBox 8"/>
          <p:cNvSpPr txBox="1"/>
          <p:nvPr/>
        </p:nvSpPr>
        <p:spPr>
          <a:xfrm>
            <a:off x="822960" y="2788920"/>
            <a:ext cx="10515600" cy="1463040"/>
          </a:xfrm>
          <a:prstGeom prst="rect">
            <a:avLst/>
          </a:prstGeom>
          <a:noFill/>
        </p:spPr>
        <p:txBody>
          <a:bodyPr wrap="square" anchor="t">
            <a:spAutoFit/>
          </a:bodyPr>
          <a:lstStyle/>
          <a:p>
            <a:pPr algn="l">
              <a:lnSpc>
                <a:spcPct val="100000"/>
              </a:lnSpc>
            </a:pPr>
            <a:r>
              <a:rPr sz="4600" b="1" i="0">
                <a:solidFill>
                  <a:srgbClr val="ECEEF6"/>
                </a:solidFill>
                <a:latin typeface="Segoe UI Semibold"/>
              </a:rPr>
              <a:t>AI Data Reporting &amp; Analytics Assistant</a:t>
            </a:r>
          </a:p>
        </p:txBody>
      </p:sp>
      <p:sp>
        <p:nvSpPr>
          <p:cNvPr id="10" name="TextBox 9"/>
          <p:cNvSpPr txBox="1"/>
          <p:nvPr/>
        </p:nvSpPr>
        <p:spPr>
          <a:xfrm>
            <a:off x="841248" y="4160520"/>
            <a:ext cx="10332720" cy="548640"/>
          </a:xfrm>
          <a:prstGeom prst="rect">
            <a:avLst/>
          </a:prstGeom>
          <a:noFill/>
        </p:spPr>
        <p:txBody>
          <a:bodyPr wrap="square" anchor="t">
            <a:spAutoFit/>
          </a:bodyPr>
          <a:lstStyle/>
          <a:p>
            <a:pPr algn="l">
              <a:lnSpc>
                <a:spcPct val="105000"/>
              </a:lnSpc>
            </a:pPr>
            <a:r>
              <a:rPr sz="1900" b="1" i="0">
                <a:solidFill>
                  <a:srgbClr val="A855F7"/>
                </a:solidFill>
                <a:latin typeface="Segoe UI"/>
              </a:rPr>
              <a:t>From raw spreadsheet to decision-ready insight — automatically.</a:t>
            </a:r>
          </a:p>
        </p:txBody>
      </p:sp>
      <p:sp>
        <p:nvSpPr>
          <p:cNvPr id="11" name="TextBox 10"/>
          <p:cNvSpPr txBox="1"/>
          <p:nvPr/>
        </p:nvSpPr>
        <p:spPr>
          <a:xfrm>
            <a:off x="841248" y="4709160"/>
            <a:ext cx="10058400" cy="1005840"/>
          </a:xfrm>
          <a:prstGeom prst="rect">
            <a:avLst/>
          </a:prstGeom>
          <a:noFill/>
        </p:spPr>
        <p:txBody>
          <a:bodyPr wrap="square" anchor="t">
            <a:spAutoFit/>
          </a:bodyPr>
          <a:lstStyle/>
          <a:p>
            <a:pPr algn="l">
              <a:lnSpc>
                <a:spcPct val="125000"/>
              </a:lnSpc>
            </a:pPr>
            <a:r>
              <a:rPr sz="1450" b="0" i="0">
                <a:solidFill>
                  <a:srgbClr val="9AA4BC"/>
                </a:solidFill>
                <a:latin typeface="Segoe UI"/>
              </a:rPr>
              <a:t>An AI-powered analytics platform that cleans data, detects your business domain, computes KPIs, builds visuals, writes an executive summary, answers questions in natural language, and exports branded reports.</a:t>
            </a:r>
          </a:p>
        </p:txBody>
      </p:sp>
      <p:sp>
        <p:nvSpPr>
          <p:cNvPr id="12" name="TextBox 11"/>
          <p:cNvSpPr txBox="1"/>
          <p:nvPr/>
        </p:nvSpPr>
        <p:spPr>
          <a:xfrm>
            <a:off x="841248" y="5897880"/>
            <a:ext cx="6400800" cy="365760"/>
          </a:xfrm>
          <a:prstGeom prst="rect">
            <a:avLst/>
          </a:prstGeom>
          <a:noFill/>
        </p:spPr>
        <p:txBody>
          <a:bodyPr wrap="square" anchor="t">
            <a:spAutoFit/>
          </a:bodyPr>
          <a:lstStyle/>
          <a:p>
            <a:pPr algn="l">
              <a:lnSpc>
                <a:spcPct val="105000"/>
              </a:lnSpc>
            </a:pPr>
            <a:r>
              <a:rPr sz="1250" b="0" i="0">
                <a:solidFill>
                  <a:srgbClr val="6B7490"/>
                </a:solidFill>
                <a:latin typeface="Segoe UI"/>
              </a:rPr>
              <a:t>Your Name  ·  Data / AI Engineer</a:t>
            </a:r>
          </a:p>
        </p:txBody>
      </p:sp>
      <p:sp>
        <p:nvSpPr>
          <p:cNvPr id="13" name="Rectangle 12"/>
          <p:cNvSpPr/>
          <p:nvPr/>
        </p:nvSpPr>
        <p:spPr>
          <a:xfrm>
            <a:off x="548640" y="6419088"/>
            <a:ext cx="11091672" cy="12700"/>
          </a:xfrm>
          <a:prstGeom prst="rect">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455664"/>
            <a:ext cx="7315200" cy="274320"/>
          </a:xfrm>
          <a:prstGeom prst="rect">
            <a:avLst/>
          </a:prstGeom>
          <a:noFill/>
        </p:spPr>
        <p:txBody>
          <a:bodyPr wrap="square" anchor="t">
            <a:spAutoFit/>
          </a:bodyPr>
          <a:lstStyle/>
          <a:p>
            <a:pPr algn="l">
              <a:lnSpc>
                <a:spcPct val="105000"/>
              </a:lnSpc>
            </a:pPr>
            <a:r>
              <a:rPr sz="950" b="0" i="0">
                <a:solidFill>
                  <a:srgbClr val="6B7490"/>
                </a:solidFill>
                <a:latin typeface="Segoe UI"/>
              </a:rPr>
              <a:t>AI Data Reporting &amp; Analytics Assistant  ·  v3.0</a:t>
            </a:r>
          </a:p>
        </p:txBody>
      </p:sp>
      <p:sp>
        <p:nvSpPr>
          <p:cNvPr id="15" name="TextBox 14"/>
          <p:cNvSpPr txBox="1"/>
          <p:nvPr/>
        </p:nvSpPr>
        <p:spPr>
          <a:xfrm>
            <a:off x="10241280" y="6455664"/>
            <a:ext cx="1399032" cy="274320"/>
          </a:xfrm>
          <a:prstGeom prst="rect">
            <a:avLst/>
          </a:prstGeom>
          <a:noFill/>
        </p:spPr>
        <p:txBody>
          <a:bodyPr wrap="square" anchor="t">
            <a:spAutoFit/>
          </a:bodyPr>
          <a:lstStyle/>
          <a:p>
            <a:pPr algn="r">
              <a:lnSpc>
                <a:spcPct val="105000"/>
              </a:lnSpc>
            </a:pPr>
            <a:r>
              <a:rPr sz="950" b="0" i="0">
                <a:solidFill>
                  <a:srgbClr val="6B7490"/>
                </a:solidFill>
                <a:latin typeface="Consolas"/>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4063898" cy="731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3898" y="0"/>
            <a:ext cx="4063898" cy="7315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7796" y="0"/>
            <a:ext cx="4063898"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1064240" cy="822960"/>
          </a:xfrm>
          <a:prstGeom prst="rect">
            <a:avLst/>
          </a:prstGeom>
          <a:noFill/>
        </p:spPr>
        <p:txBody>
          <a:bodyPr wrap="square" anchor="t">
            <a:spAutoFit/>
          </a:bodyPr>
          <a:lstStyle/>
          <a:p>
            <a:pPr algn="l">
              <a:lnSpc>
                <a:spcPct val="105000"/>
              </a:lnSpc>
            </a:pPr>
            <a:r>
              <a:rPr sz="3300" b="1" i="0">
                <a:solidFill>
                  <a:srgbClr val="ECEEF6"/>
                </a:solidFill>
                <a:latin typeface="Segoe UI Semibold"/>
              </a:rPr>
              <a:t>The Problem</a:t>
            </a:r>
          </a:p>
        </p:txBody>
      </p:sp>
      <p:sp>
        <p:nvSpPr>
          <p:cNvPr id="6" name="TextBox 5"/>
          <p:cNvSpPr txBox="1"/>
          <p:nvPr/>
        </p:nvSpPr>
        <p:spPr>
          <a:xfrm>
            <a:off x="566928" y="1207008"/>
            <a:ext cx="11064240" cy="457200"/>
          </a:xfrm>
          <a:prstGeom prst="rect">
            <a:avLst/>
          </a:prstGeom>
          <a:noFill/>
        </p:spPr>
        <p:txBody>
          <a:bodyPr wrap="square" anchor="t">
            <a:spAutoFit/>
          </a:bodyPr>
          <a:lstStyle/>
          <a:p>
            <a:pPr algn="l">
              <a:lnSpc>
                <a:spcPct val="105000"/>
              </a:lnSpc>
            </a:pPr>
            <a:r>
              <a:rPr sz="1450" b="0" i="0">
                <a:solidFill>
                  <a:srgbClr val="9AA4BC"/>
                </a:solidFill>
                <a:latin typeface="Segoe UI"/>
              </a:rPr>
              <a:t>Why this project exists</a:t>
            </a:r>
          </a:p>
        </p:txBody>
      </p:sp>
      <p:sp>
        <p:nvSpPr>
          <p:cNvPr id="7" name="TextBox 6"/>
          <p:cNvSpPr txBox="1"/>
          <p:nvPr/>
        </p:nvSpPr>
        <p:spPr>
          <a:xfrm>
            <a:off x="548640" y="1783080"/>
            <a:ext cx="7315200" cy="365760"/>
          </a:xfrm>
          <a:prstGeom prst="rect">
            <a:avLst/>
          </a:prstGeom>
          <a:noFill/>
        </p:spPr>
        <p:txBody>
          <a:bodyPr wrap="square" anchor="t">
            <a:spAutoFit/>
          </a:bodyPr>
          <a:lstStyle/>
          <a:p>
            <a:pPr algn="l">
              <a:lnSpc>
                <a:spcPct val="105000"/>
              </a:lnSpc>
            </a:pPr>
            <a:r>
              <a:rPr sz="1250" b="1" i="0">
                <a:solidFill>
                  <a:srgbClr val="6366F1"/>
                </a:solidFill>
                <a:latin typeface="Segoe UI Semibold"/>
              </a:rPr>
              <a:t>PAIN POINTS</a:t>
            </a:r>
          </a:p>
        </p:txBody>
      </p:sp>
      <p:sp>
        <p:nvSpPr>
          <p:cNvPr id="8" name="Rounded Rectangle 7"/>
          <p:cNvSpPr/>
          <p:nvPr/>
        </p:nvSpPr>
        <p:spPr>
          <a:xfrm>
            <a:off x="548640" y="2240280"/>
            <a:ext cx="5440680" cy="178308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lnSpc>
                <a:spcPct val="100000"/>
              </a:lnSpc>
              <a:spcAft>
                <a:spcPts val="600"/>
              </a:spcAft>
            </a:pPr>
            <a:r>
              <a:rPr sz="1600" b="1" i="0">
                <a:solidFill>
                  <a:srgbClr val="ECEEF6"/>
                </a:solidFill>
                <a:latin typeface="Segoe UI"/>
              </a:rPr>
              <a:t>⏳  Slow &amp; manual</a:t>
            </a:r>
          </a:p>
          <a:p>
            <a:pPr algn="l">
              <a:lnSpc>
                <a:spcPct val="120000"/>
              </a:lnSpc>
            </a:pPr>
            <a:r>
              <a:rPr sz="1250" b="0" i="0">
                <a:solidFill>
                  <a:srgbClr val="9AA4BC"/>
                </a:solidFill>
                <a:latin typeface="Segoe UI"/>
              </a:rPr>
              <a:t>Turning a raw spreadsheet into clean KPIs, charts and a written summary takes a skilled analyst hours — per dataset.</a:t>
            </a:r>
          </a:p>
        </p:txBody>
      </p:sp>
      <p:sp>
        <p:nvSpPr>
          <p:cNvPr id="9" name="Rounded Rectangle 8"/>
          <p:cNvSpPr/>
          <p:nvPr/>
        </p:nvSpPr>
        <p:spPr>
          <a:xfrm>
            <a:off x="6217920" y="2240280"/>
            <a:ext cx="5440680" cy="178308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lnSpc>
                <a:spcPct val="100000"/>
              </a:lnSpc>
              <a:spcAft>
                <a:spcPts val="600"/>
              </a:spcAft>
            </a:pPr>
            <a:r>
              <a:rPr sz="1600" b="1" i="0">
                <a:solidFill>
                  <a:srgbClr val="ECEEF6"/>
                </a:solidFill>
                <a:latin typeface="Segoe UI"/>
              </a:rPr>
              <a:t>🔒  Analyst bottleneck</a:t>
            </a:r>
          </a:p>
          <a:p>
            <a:pPr algn="l">
              <a:lnSpc>
                <a:spcPct val="120000"/>
              </a:lnSpc>
            </a:pPr>
            <a:r>
              <a:rPr sz="1250" b="0" i="0">
                <a:solidFill>
                  <a:srgbClr val="9AA4BC"/>
                </a:solidFill>
                <a:latin typeface="Segoe UI"/>
              </a:rPr>
              <a:t>Non-technical teams can't self-serve; every question waits in an analyst's queue.</a:t>
            </a:r>
          </a:p>
        </p:txBody>
      </p:sp>
      <p:sp>
        <p:nvSpPr>
          <p:cNvPr id="10" name="Rounded Rectangle 9"/>
          <p:cNvSpPr/>
          <p:nvPr/>
        </p:nvSpPr>
        <p:spPr>
          <a:xfrm>
            <a:off x="548640" y="4297680"/>
            <a:ext cx="5440680" cy="178308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lnSpc>
                <a:spcPct val="100000"/>
              </a:lnSpc>
              <a:spcAft>
                <a:spcPts val="600"/>
              </a:spcAft>
            </a:pPr>
            <a:r>
              <a:rPr sz="1600" b="1" i="0">
                <a:solidFill>
                  <a:srgbClr val="ECEEF6"/>
                </a:solidFill>
                <a:latin typeface="Segoe UI"/>
              </a:rPr>
              <a:t>🧩  Fragmented tooling</a:t>
            </a:r>
          </a:p>
          <a:p>
            <a:pPr algn="l">
              <a:lnSpc>
                <a:spcPct val="120000"/>
              </a:lnSpc>
            </a:pPr>
            <a:r>
              <a:rPr sz="1250" b="0" i="0">
                <a:solidFill>
                  <a:srgbClr val="9AA4BC"/>
                </a:solidFill>
                <a:latin typeface="Segoe UI"/>
              </a:rPr>
              <a:t>Cleaning, BI dashboards, stats, forecasting and report design live in 4–5 disconnected tools.</a:t>
            </a:r>
          </a:p>
        </p:txBody>
      </p:sp>
      <p:sp>
        <p:nvSpPr>
          <p:cNvPr id="11" name="Rounded Rectangle 10"/>
          <p:cNvSpPr/>
          <p:nvPr/>
        </p:nvSpPr>
        <p:spPr>
          <a:xfrm>
            <a:off x="6217920" y="4297680"/>
            <a:ext cx="5440680" cy="178308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lnSpc>
                <a:spcPct val="100000"/>
              </a:lnSpc>
              <a:spcAft>
                <a:spcPts val="600"/>
              </a:spcAft>
            </a:pPr>
            <a:r>
              <a:rPr sz="1600" b="1" i="0">
                <a:solidFill>
                  <a:srgbClr val="ECEEF6"/>
                </a:solidFill>
                <a:latin typeface="Segoe UI"/>
              </a:rPr>
              <a:t>📉  Insight, not just charts</a:t>
            </a:r>
          </a:p>
          <a:p>
            <a:pPr algn="l">
              <a:lnSpc>
                <a:spcPct val="120000"/>
              </a:lnSpc>
            </a:pPr>
            <a:r>
              <a:rPr sz="1250" b="0" i="0">
                <a:solidFill>
                  <a:srgbClr val="9AA4BC"/>
                </a:solidFill>
                <a:latin typeface="Segoe UI"/>
              </a:rPr>
              <a:t>Most tools draw charts but don't explain what's happening, why, or what to do next.</a:t>
            </a:r>
          </a:p>
        </p:txBody>
      </p:sp>
      <p:sp>
        <p:nvSpPr>
          <p:cNvPr id="12" name="Rectangle 11"/>
          <p:cNvSpPr/>
          <p:nvPr/>
        </p:nvSpPr>
        <p:spPr>
          <a:xfrm>
            <a:off x="548640" y="6419088"/>
            <a:ext cx="11091672" cy="12700"/>
          </a:xfrm>
          <a:prstGeom prst="rect">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455664"/>
            <a:ext cx="7315200" cy="274320"/>
          </a:xfrm>
          <a:prstGeom prst="rect">
            <a:avLst/>
          </a:prstGeom>
          <a:noFill/>
        </p:spPr>
        <p:txBody>
          <a:bodyPr wrap="square" anchor="t">
            <a:spAutoFit/>
          </a:bodyPr>
          <a:lstStyle/>
          <a:p>
            <a:pPr algn="l">
              <a:lnSpc>
                <a:spcPct val="105000"/>
              </a:lnSpc>
            </a:pPr>
            <a:r>
              <a:rPr sz="950" b="0" i="0">
                <a:solidFill>
                  <a:srgbClr val="6B7490"/>
                </a:solidFill>
                <a:latin typeface="Segoe UI"/>
              </a:rPr>
              <a:t>AI Data Reporting &amp; Analytics Assistant  ·  v3.0</a:t>
            </a:r>
          </a:p>
        </p:txBody>
      </p:sp>
      <p:sp>
        <p:nvSpPr>
          <p:cNvPr id="14" name="TextBox 13"/>
          <p:cNvSpPr txBox="1"/>
          <p:nvPr/>
        </p:nvSpPr>
        <p:spPr>
          <a:xfrm>
            <a:off x="10241280" y="6455664"/>
            <a:ext cx="1399032" cy="274320"/>
          </a:xfrm>
          <a:prstGeom prst="rect">
            <a:avLst/>
          </a:prstGeom>
          <a:noFill/>
        </p:spPr>
        <p:txBody>
          <a:bodyPr wrap="square" anchor="t">
            <a:spAutoFit/>
          </a:bodyPr>
          <a:lstStyle/>
          <a:p>
            <a:pPr algn="r">
              <a:lnSpc>
                <a:spcPct val="105000"/>
              </a:lnSpc>
            </a:pPr>
            <a:r>
              <a:rPr sz="950" b="0" i="0">
                <a:solidFill>
                  <a:srgbClr val="6B7490"/>
                </a:solidFill>
                <a:latin typeface="Consolas"/>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4063898" cy="731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3898" y="0"/>
            <a:ext cx="4063898" cy="7315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7796" y="0"/>
            <a:ext cx="4063898"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1064240" cy="822960"/>
          </a:xfrm>
          <a:prstGeom prst="rect">
            <a:avLst/>
          </a:prstGeom>
          <a:noFill/>
        </p:spPr>
        <p:txBody>
          <a:bodyPr wrap="square" anchor="t">
            <a:spAutoFit/>
          </a:bodyPr>
          <a:lstStyle/>
          <a:p>
            <a:pPr algn="l">
              <a:lnSpc>
                <a:spcPct val="105000"/>
              </a:lnSpc>
            </a:pPr>
            <a:r>
              <a:rPr sz="3300" b="1" i="0">
                <a:solidFill>
                  <a:srgbClr val="ECEEF6"/>
                </a:solidFill>
                <a:latin typeface="Segoe UI Semibold"/>
              </a:rPr>
              <a:t>The Solution</a:t>
            </a:r>
          </a:p>
        </p:txBody>
      </p:sp>
      <p:sp>
        <p:nvSpPr>
          <p:cNvPr id="6" name="TextBox 5"/>
          <p:cNvSpPr txBox="1"/>
          <p:nvPr/>
        </p:nvSpPr>
        <p:spPr>
          <a:xfrm>
            <a:off x="566928" y="1207008"/>
            <a:ext cx="11064240" cy="457200"/>
          </a:xfrm>
          <a:prstGeom prst="rect">
            <a:avLst/>
          </a:prstGeom>
          <a:noFill/>
        </p:spPr>
        <p:txBody>
          <a:bodyPr wrap="square" anchor="t">
            <a:spAutoFit/>
          </a:bodyPr>
          <a:lstStyle/>
          <a:p>
            <a:pPr algn="l">
              <a:lnSpc>
                <a:spcPct val="105000"/>
              </a:lnSpc>
            </a:pPr>
            <a:r>
              <a:rPr sz="1450" b="0" i="0">
                <a:solidFill>
                  <a:srgbClr val="9AA4BC"/>
                </a:solidFill>
                <a:latin typeface="Segoe UI"/>
              </a:rPr>
              <a:t>One upload → a complete, domain-aware analytics workspace</a:t>
            </a:r>
          </a:p>
        </p:txBody>
      </p:sp>
      <p:sp>
        <p:nvSpPr>
          <p:cNvPr id="7" name="TextBox 6"/>
          <p:cNvSpPr txBox="1"/>
          <p:nvPr/>
        </p:nvSpPr>
        <p:spPr>
          <a:xfrm>
            <a:off x="548640" y="1783080"/>
            <a:ext cx="7315200" cy="365760"/>
          </a:xfrm>
          <a:prstGeom prst="rect">
            <a:avLst/>
          </a:prstGeom>
          <a:noFill/>
        </p:spPr>
        <p:txBody>
          <a:bodyPr wrap="square" anchor="t">
            <a:spAutoFit/>
          </a:bodyPr>
          <a:lstStyle/>
          <a:p>
            <a:pPr algn="l">
              <a:lnSpc>
                <a:spcPct val="105000"/>
              </a:lnSpc>
            </a:pPr>
            <a:r>
              <a:rPr sz="1250" b="1" i="0">
                <a:solidFill>
                  <a:srgbClr val="6366F1"/>
                </a:solidFill>
                <a:latin typeface="Segoe UI Semibold"/>
              </a:rPr>
              <a:t>HOW IT WORKS AT A GLANCE</a:t>
            </a:r>
          </a:p>
        </p:txBody>
      </p:sp>
      <p:sp>
        <p:nvSpPr>
          <p:cNvPr id="8" name="Rounded Rectangle 7"/>
          <p:cNvSpPr/>
          <p:nvPr/>
        </p:nvSpPr>
        <p:spPr>
          <a:xfrm>
            <a:off x="548640" y="2286000"/>
            <a:ext cx="2084831" cy="155448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400"/>
              </a:spcAft>
            </a:pPr>
            <a:r>
              <a:rPr sz="2200" b="1" i="0">
                <a:solidFill>
                  <a:srgbClr val="6366F1"/>
                </a:solidFill>
                <a:latin typeface="Segoe UI"/>
              </a:rPr>
              <a:t>①</a:t>
            </a:r>
          </a:p>
          <a:p>
            <a:pPr algn="ctr">
              <a:lnSpc>
                <a:spcPct val="100000"/>
              </a:lnSpc>
              <a:spcAft>
                <a:spcPts val="300"/>
              </a:spcAft>
            </a:pPr>
            <a:r>
              <a:rPr sz="1500" b="1" i="0">
                <a:solidFill>
                  <a:srgbClr val="ECEEF6"/>
                </a:solidFill>
                <a:latin typeface="Segoe UI"/>
              </a:rPr>
              <a:t>Upload</a:t>
            </a:r>
          </a:p>
          <a:p>
            <a:pPr algn="ctr">
              <a:lnSpc>
                <a:spcPct val="110000"/>
              </a:lnSpc>
            </a:pPr>
            <a:r>
              <a:rPr sz="1100" b="0" i="0">
                <a:solidFill>
                  <a:srgbClr val="9AA4BC"/>
                </a:solidFill>
                <a:latin typeface="Segoe UI"/>
              </a:rPr>
              <a:t>Drop a CSV / XLSX</a:t>
            </a:r>
          </a:p>
        </p:txBody>
      </p:sp>
      <p:sp>
        <p:nvSpPr>
          <p:cNvPr id="9" name="Chevron 8"/>
          <p:cNvSpPr/>
          <p:nvPr/>
        </p:nvSpPr>
        <p:spPr>
          <a:xfrm>
            <a:off x="2638043" y="2852928"/>
            <a:ext cx="155448" cy="411480"/>
          </a:xfrm>
          <a:prstGeom prst="chevron">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98063" y="2286000"/>
            <a:ext cx="2084831" cy="155448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400"/>
              </a:spcAft>
            </a:pPr>
            <a:r>
              <a:rPr sz="2200" b="1" i="0">
                <a:solidFill>
                  <a:srgbClr val="6366F1"/>
                </a:solidFill>
                <a:latin typeface="Segoe UI"/>
              </a:rPr>
              <a:t>②</a:t>
            </a:r>
          </a:p>
          <a:p>
            <a:pPr algn="ctr">
              <a:lnSpc>
                <a:spcPct val="100000"/>
              </a:lnSpc>
              <a:spcAft>
                <a:spcPts val="300"/>
              </a:spcAft>
            </a:pPr>
            <a:r>
              <a:rPr sz="1500" b="1" i="0">
                <a:solidFill>
                  <a:srgbClr val="ECEEF6"/>
                </a:solidFill>
                <a:latin typeface="Segoe UI"/>
              </a:rPr>
              <a:t>Understand</a:t>
            </a:r>
          </a:p>
          <a:p>
            <a:pPr algn="ctr">
              <a:lnSpc>
                <a:spcPct val="110000"/>
              </a:lnSpc>
            </a:pPr>
            <a:r>
              <a:rPr sz="1100" b="0" i="0">
                <a:solidFill>
                  <a:srgbClr val="9AA4BC"/>
                </a:solidFill>
                <a:latin typeface="Segoe UI"/>
              </a:rPr>
              <a:t>Auto-clean + detect domain</a:t>
            </a:r>
          </a:p>
        </p:txBody>
      </p:sp>
      <p:sp>
        <p:nvSpPr>
          <p:cNvPr id="11" name="Chevron 10"/>
          <p:cNvSpPr/>
          <p:nvPr/>
        </p:nvSpPr>
        <p:spPr>
          <a:xfrm>
            <a:off x="4887466" y="2852928"/>
            <a:ext cx="155448" cy="411480"/>
          </a:xfrm>
          <a:prstGeom prst="chevron">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47486" y="2286000"/>
            <a:ext cx="2084831" cy="155448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400"/>
              </a:spcAft>
            </a:pPr>
            <a:r>
              <a:rPr sz="2200" b="1" i="0">
                <a:solidFill>
                  <a:srgbClr val="6366F1"/>
                </a:solidFill>
                <a:latin typeface="Segoe UI"/>
              </a:rPr>
              <a:t>③</a:t>
            </a:r>
          </a:p>
          <a:p>
            <a:pPr algn="ctr">
              <a:lnSpc>
                <a:spcPct val="100000"/>
              </a:lnSpc>
              <a:spcAft>
                <a:spcPts val="300"/>
              </a:spcAft>
            </a:pPr>
            <a:r>
              <a:rPr sz="1500" b="1" i="0">
                <a:solidFill>
                  <a:srgbClr val="ECEEF6"/>
                </a:solidFill>
                <a:latin typeface="Segoe UI"/>
              </a:rPr>
              <a:t>Analyze</a:t>
            </a:r>
          </a:p>
          <a:p>
            <a:pPr algn="ctr">
              <a:lnSpc>
                <a:spcPct val="110000"/>
              </a:lnSpc>
            </a:pPr>
            <a:r>
              <a:rPr sz="1100" b="0" i="0">
                <a:solidFill>
                  <a:srgbClr val="9AA4BC"/>
                </a:solidFill>
                <a:latin typeface="Segoe UI"/>
              </a:rPr>
              <a:t>KPIs, charts, stats, anomalies</a:t>
            </a:r>
          </a:p>
        </p:txBody>
      </p:sp>
      <p:sp>
        <p:nvSpPr>
          <p:cNvPr id="13" name="Chevron 12"/>
          <p:cNvSpPr/>
          <p:nvPr/>
        </p:nvSpPr>
        <p:spPr>
          <a:xfrm>
            <a:off x="7136889" y="2852928"/>
            <a:ext cx="155448" cy="411480"/>
          </a:xfrm>
          <a:prstGeom prst="chevron">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296909" y="2286000"/>
            <a:ext cx="2084831" cy="155448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400"/>
              </a:spcAft>
            </a:pPr>
            <a:r>
              <a:rPr sz="2200" b="1" i="0">
                <a:solidFill>
                  <a:srgbClr val="6366F1"/>
                </a:solidFill>
                <a:latin typeface="Segoe UI"/>
              </a:rPr>
              <a:t>④</a:t>
            </a:r>
          </a:p>
          <a:p>
            <a:pPr algn="ctr">
              <a:lnSpc>
                <a:spcPct val="100000"/>
              </a:lnSpc>
              <a:spcAft>
                <a:spcPts val="300"/>
              </a:spcAft>
            </a:pPr>
            <a:r>
              <a:rPr sz="1500" b="1" i="0">
                <a:solidFill>
                  <a:srgbClr val="ECEEF6"/>
                </a:solidFill>
                <a:latin typeface="Segoe UI"/>
              </a:rPr>
              <a:t>Explain</a:t>
            </a:r>
          </a:p>
          <a:p>
            <a:pPr algn="ctr">
              <a:lnSpc>
                <a:spcPct val="110000"/>
              </a:lnSpc>
            </a:pPr>
            <a:r>
              <a:rPr sz="1100" b="0" i="0">
                <a:solidFill>
                  <a:srgbClr val="9AA4BC"/>
                </a:solidFill>
                <a:latin typeface="Segoe UI"/>
              </a:rPr>
              <a:t>AI summary, story, insights</a:t>
            </a:r>
          </a:p>
        </p:txBody>
      </p:sp>
      <p:sp>
        <p:nvSpPr>
          <p:cNvPr id="15" name="Chevron 14"/>
          <p:cNvSpPr/>
          <p:nvPr/>
        </p:nvSpPr>
        <p:spPr>
          <a:xfrm>
            <a:off x="9386312" y="2852928"/>
            <a:ext cx="155448" cy="411480"/>
          </a:xfrm>
          <a:prstGeom prst="chevron">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546332" y="2286000"/>
            <a:ext cx="2084831" cy="155448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400"/>
              </a:spcAft>
            </a:pPr>
            <a:r>
              <a:rPr sz="2200" b="1" i="0">
                <a:solidFill>
                  <a:srgbClr val="6366F1"/>
                </a:solidFill>
                <a:latin typeface="Segoe UI"/>
              </a:rPr>
              <a:t>⑤</a:t>
            </a:r>
          </a:p>
          <a:p>
            <a:pPr algn="ctr">
              <a:lnSpc>
                <a:spcPct val="100000"/>
              </a:lnSpc>
              <a:spcAft>
                <a:spcPts val="300"/>
              </a:spcAft>
            </a:pPr>
            <a:r>
              <a:rPr sz="1500" b="1" i="0">
                <a:solidFill>
                  <a:srgbClr val="ECEEF6"/>
                </a:solidFill>
                <a:latin typeface="Segoe UI"/>
              </a:rPr>
              <a:t>Deliver</a:t>
            </a:r>
          </a:p>
          <a:p>
            <a:pPr algn="ctr">
              <a:lnSpc>
                <a:spcPct val="110000"/>
              </a:lnSpc>
            </a:pPr>
            <a:r>
              <a:rPr sz="1100" b="0" i="0">
                <a:solidFill>
                  <a:srgbClr val="9AA4BC"/>
                </a:solidFill>
                <a:latin typeface="Segoe UI"/>
              </a:rPr>
              <a:t>Ask in NL · export reports</a:t>
            </a:r>
          </a:p>
        </p:txBody>
      </p:sp>
      <p:sp>
        <p:nvSpPr>
          <p:cNvPr id="17" name="Rounded Rectangle 16"/>
          <p:cNvSpPr/>
          <p:nvPr/>
        </p:nvSpPr>
        <p:spPr>
          <a:xfrm>
            <a:off x="548640" y="4297680"/>
            <a:ext cx="11091672" cy="1874519"/>
          </a:xfrm>
          <a:prstGeom prst="roundRect">
            <a:avLst>
              <a:gd name="adj" fmla="val 6000"/>
            </a:avLst>
          </a:prstGeom>
          <a:solidFill>
            <a:srgbClr val="1B233A"/>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lnSpc>
                <a:spcPct val="100000"/>
              </a:lnSpc>
              <a:spcAft>
                <a:spcPts val="600"/>
              </a:spcAft>
            </a:pPr>
            <a:r>
              <a:rPr sz="1500" b="1" i="0">
                <a:solidFill>
                  <a:srgbClr val="38BDF8"/>
                </a:solidFill>
                <a:latin typeface="Segoe UI"/>
              </a:rPr>
              <a:t>What makes it different</a:t>
            </a:r>
          </a:p>
          <a:p>
            <a:pPr algn="l">
              <a:lnSpc>
                <a:spcPct val="122000"/>
              </a:lnSpc>
              <a:spcAft>
                <a:spcPts val="300"/>
              </a:spcAft>
            </a:pPr>
            <a:r>
              <a:rPr sz="1250" b="0" i="0">
                <a:solidFill>
                  <a:srgbClr val="ECEEF6"/>
                </a:solidFill>
                <a:latin typeface="Segoe UI"/>
              </a:rPr>
              <a:t>Domain-aware:  a Smart Intelligence layer detects your domain with a confidence score and filters out irrelevant framing.</a:t>
            </a:r>
          </a:p>
          <a:p>
            <a:pPr algn="l">
              <a:lnSpc>
                <a:spcPct val="122000"/>
              </a:lnSpc>
              <a:spcAft>
                <a:spcPts val="300"/>
              </a:spcAft>
            </a:pPr>
            <a:r>
              <a:rPr sz="1250" b="0" i="0">
                <a:solidFill>
                  <a:srgbClr val="ECEEF6"/>
                </a:solidFill>
                <a:latin typeface="Segoe UI"/>
              </a:rPr>
              <a:t>Explains, not just plots:  executive summary + data story answer what / why / what next.</a:t>
            </a:r>
          </a:p>
          <a:p>
            <a:pPr algn="l">
              <a:lnSpc>
                <a:spcPct val="122000"/>
              </a:lnSpc>
              <a:spcAft>
                <a:spcPts val="300"/>
              </a:spcAft>
            </a:pPr>
            <a:r>
              <a:rPr sz="1250" b="0" i="0">
                <a:solidFill>
                  <a:srgbClr val="ECEEF6"/>
                </a:solidFill>
                <a:latin typeface="Segoe UI"/>
              </a:rPr>
              <a:t>Interactive BI:  Power BI-grade charts, click-a-KPI cross-filtering, and a one-screen Executive View.</a:t>
            </a:r>
          </a:p>
          <a:p>
            <a:pPr algn="l">
              <a:lnSpc>
                <a:spcPct val="122000"/>
              </a:lnSpc>
              <a:spcAft>
                <a:spcPts val="300"/>
              </a:spcAft>
            </a:pPr>
            <a:r>
              <a:rPr sz="1250" b="0" i="0">
                <a:solidFill>
                  <a:srgbClr val="ECEEF6"/>
                </a:solidFill>
                <a:latin typeface="Segoe UI"/>
              </a:rPr>
              <a:t>Conversational:  natural-language chat, NL→SQL on DuckDB, and a lightweight RAG insight engine.</a:t>
            </a:r>
          </a:p>
          <a:p>
            <a:pPr algn="l">
              <a:lnSpc>
                <a:spcPct val="122000"/>
              </a:lnSpc>
            </a:pPr>
            <a:r>
              <a:rPr sz="1250" b="0" i="0">
                <a:solidFill>
                  <a:srgbClr val="ECEEF6"/>
                </a:solidFill>
                <a:latin typeface="Segoe UI"/>
              </a:rPr>
              <a:t>Graceful by design:  works even with no AI key — falls back to statistical narratives.</a:t>
            </a:r>
          </a:p>
        </p:txBody>
      </p:sp>
      <p:sp>
        <p:nvSpPr>
          <p:cNvPr id="18" name="Rectangle 17"/>
          <p:cNvSpPr/>
          <p:nvPr/>
        </p:nvSpPr>
        <p:spPr>
          <a:xfrm>
            <a:off x="548640" y="6419088"/>
            <a:ext cx="11091672" cy="12700"/>
          </a:xfrm>
          <a:prstGeom prst="rect">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455664"/>
            <a:ext cx="7315200" cy="274320"/>
          </a:xfrm>
          <a:prstGeom prst="rect">
            <a:avLst/>
          </a:prstGeom>
          <a:noFill/>
        </p:spPr>
        <p:txBody>
          <a:bodyPr wrap="square" anchor="t">
            <a:spAutoFit/>
          </a:bodyPr>
          <a:lstStyle/>
          <a:p>
            <a:pPr algn="l">
              <a:lnSpc>
                <a:spcPct val="105000"/>
              </a:lnSpc>
            </a:pPr>
            <a:r>
              <a:rPr sz="950" b="0" i="0">
                <a:solidFill>
                  <a:srgbClr val="6B7490"/>
                </a:solidFill>
                <a:latin typeface="Segoe UI"/>
              </a:rPr>
              <a:t>AI Data Reporting &amp; Analytics Assistant  ·  v3.0</a:t>
            </a:r>
          </a:p>
        </p:txBody>
      </p:sp>
      <p:sp>
        <p:nvSpPr>
          <p:cNvPr id="20" name="TextBox 19"/>
          <p:cNvSpPr txBox="1"/>
          <p:nvPr/>
        </p:nvSpPr>
        <p:spPr>
          <a:xfrm>
            <a:off x="10241280" y="6455664"/>
            <a:ext cx="1399032" cy="274320"/>
          </a:xfrm>
          <a:prstGeom prst="rect">
            <a:avLst/>
          </a:prstGeom>
          <a:noFill/>
        </p:spPr>
        <p:txBody>
          <a:bodyPr wrap="square" anchor="t">
            <a:spAutoFit/>
          </a:bodyPr>
          <a:lstStyle/>
          <a:p>
            <a:pPr algn="r">
              <a:lnSpc>
                <a:spcPct val="105000"/>
              </a:lnSpc>
            </a:pPr>
            <a:r>
              <a:rPr sz="950" b="0" i="0">
                <a:solidFill>
                  <a:srgbClr val="6B7490"/>
                </a:solidFill>
                <a:latin typeface="Consolas"/>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4063898" cy="731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3898" y="0"/>
            <a:ext cx="4063898" cy="7315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7796" y="0"/>
            <a:ext cx="4063898"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1064240" cy="822960"/>
          </a:xfrm>
          <a:prstGeom prst="rect">
            <a:avLst/>
          </a:prstGeom>
          <a:noFill/>
        </p:spPr>
        <p:txBody>
          <a:bodyPr wrap="square" anchor="t">
            <a:spAutoFit/>
          </a:bodyPr>
          <a:lstStyle/>
          <a:p>
            <a:pPr algn="l">
              <a:lnSpc>
                <a:spcPct val="105000"/>
              </a:lnSpc>
            </a:pPr>
            <a:r>
              <a:rPr sz="3300" b="1" i="0">
                <a:solidFill>
                  <a:srgbClr val="ECEEF6"/>
                </a:solidFill>
                <a:latin typeface="Segoe UI Semibold"/>
              </a:rPr>
              <a:t>Project Architecture</a:t>
            </a:r>
          </a:p>
        </p:txBody>
      </p:sp>
      <p:sp>
        <p:nvSpPr>
          <p:cNvPr id="6" name="TextBox 5"/>
          <p:cNvSpPr txBox="1"/>
          <p:nvPr/>
        </p:nvSpPr>
        <p:spPr>
          <a:xfrm>
            <a:off x="566928" y="1207008"/>
            <a:ext cx="11064240" cy="457200"/>
          </a:xfrm>
          <a:prstGeom prst="rect">
            <a:avLst/>
          </a:prstGeom>
          <a:noFill/>
        </p:spPr>
        <p:txBody>
          <a:bodyPr wrap="square" anchor="t">
            <a:spAutoFit/>
          </a:bodyPr>
          <a:lstStyle/>
          <a:p>
            <a:pPr algn="l">
              <a:lnSpc>
                <a:spcPct val="105000"/>
              </a:lnSpc>
            </a:pPr>
            <a:r>
              <a:rPr sz="1450" b="0" i="0">
                <a:solidFill>
                  <a:srgbClr val="9AA4BC"/>
                </a:solidFill>
                <a:latin typeface="Segoe UI"/>
              </a:rPr>
              <a:t>Layered, decoupled design — UI never touches business logic; data flows top-down</a:t>
            </a:r>
          </a:p>
        </p:txBody>
      </p:sp>
      <p:sp>
        <p:nvSpPr>
          <p:cNvPr id="7" name="Rounded Rectangle 6"/>
          <p:cNvSpPr/>
          <p:nvPr/>
        </p:nvSpPr>
        <p:spPr>
          <a:xfrm>
            <a:off x="777240" y="1783080"/>
            <a:ext cx="10607040" cy="658368"/>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54864" bIns="54864"/>
          <a:lstStyle/>
          <a:p>
            <a:pPr algn="l">
              <a:lnSpc>
                <a:spcPct val="100000"/>
              </a:lnSpc>
              <a:spcAft>
                <a:spcPts val="200"/>
              </a:spcAft>
            </a:pPr>
            <a:r>
              <a:rPr sz="1450" b="1" i="0">
                <a:solidFill>
                  <a:srgbClr val="ECEEF6"/>
                </a:solidFill>
                <a:latin typeface="Segoe UI"/>
              </a:rPr>
              <a:t>Presentation · Streamlit UI</a:t>
            </a:r>
          </a:p>
          <a:p>
            <a:pPr algn="l">
              <a:lnSpc>
                <a:spcPct val="105000"/>
              </a:lnSpc>
            </a:pPr>
            <a:r>
              <a:rPr sz="1150" b="0" i="0">
                <a:solidFill>
                  <a:srgbClr val="9AA4BC"/>
                </a:solidFill>
                <a:latin typeface="Segoe UI"/>
              </a:rPr>
              <a:t>app.py · 8 tabs · components · dark glass theme</a:t>
            </a:r>
          </a:p>
        </p:txBody>
      </p:sp>
      <p:sp>
        <p:nvSpPr>
          <p:cNvPr id="8" name="Rounded Rectangle 7"/>
          <p:cNvSpPr/>
          <p:nvPr/>
        </p:nvSpPr>
        <p:spPr>
          <a:xfrm>
            <a:off x="777240" y="1783080"/>
            <a:ext cx="109728" cy="658368"/>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wn Arrow 8"/>
          <p:cNvSpPr/>
          <p:nvPr/>
        </p:nvSpPr>
        <p:spPr>
          <a:xfrm>
            <a:off x="5980176" y="2423160"/>
            <a:ext cx="201168" cy="141732"/>
          </a:xfrm>
          <a:prstGeom prst="downArrow">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2546604"/>
            <a:ext cx="10607040" cy="658368"/>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54864" bIns="54864"/>
          <a:lstStyle/>
          <a:p>
            <a:pPr algn="l">
              <a:lnSpc>
                <a:spcPct val="100000"/>
              </a:lnSpc>
              <a:spcAft>
                <a:spcPts val="200"/>
              </a:spcAft>
            </a:pPr>
            <a:r>
              <a:rPr sz="1450" b="1" i="0">
                <a:solidFill>
                  <a:srgbClr val="ECEEF6"/>
                </a:solidFill>
                <a:latin typeface="Segoe UI"/>
              </a:rPr>
              <a:t>Orchestration</a:t>
            </a:r>
          </a:p>
          <a:p>
            <a:pPr algn="l">
              <a:lnSpc>
                <a:spcPct val="105000"/>
              </a:lnSpc>
            </a:pPr>
            <a:r>
              <a:rPr sz="1150" b="0" i="0">
                <a:solidFill>
                  <a:srgbClr val="9AA4BC"/>
                </a:solidFill>
                <a:latin typeface="Segoe UI"/>
              </a:rPr>
              <a:t>pipeline.py — run_pipeline · lazy ensure_* · filtered cache · cached services</a:t>
            </a:r>
          </a:p>
        </p:txBody>
      </p:sp>
      <p:sp>
        <p:nvSpPr>
          <p:cNvPr id="11" name="Rounded Rectangle 10"/>
          <p:cNvSpPr/>
          <p:nvPr/>
        </p:nvSpPr>
        <p:spPr>
          <a:xfrm>
            <a:off x="777240" y="2546604"/>
            <a:ext cx="109728" cy="658368"/>
          </a:xfrm>
          <a:prstGeom prst="roundRect">
            <a:avLst>
              <a:gd name="adj" fmla="val 50000"/>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wn Arrow 11"/>
          <p:cNvSpPr/>
          <p:nvPr/>
        </p:nvSpPr>
        <p:spPr>
          <a:xfrm>
            <a:off x="5980176" y="3186684"/>
            <a:ext cx="201168" cy="141732"/>
          </a:xfrm>
          <a:prstGeom prst="downArrow">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7240" y="3310128"/>
            <a:ext cx="10607040" cy="658368"/>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54864" bIns="54864"/>
          <a:lstStyle/>
          <a:p>
            <a:pPr algn="l">
              <a:lnSpc>
                <a:spcPct val="100000"/>
              </a:lnSpc>
              <a:spcAft>
                <a:spcPts val="200"/>
              </a:spcAft>
            </a:pPr>
            <a:r>
              <a:rPr sz="1450" b="1" i="0">
                <a:solidFill>
                  <a:srgbClr val="ECEEF6"/>
                </a:solidFill>
                <a:latin typeface="Segoe UI"/>
              </a:rPr>
              <a:t>Analytics Services</a:t>
            </a:r>
          </a:p>
          <a:p>
            <a:pPr algn="l">
              <a:lnSpc>
                <a:spcPct val="105000"/>
              </a:lnSpc>
            </a:pPr>
            <a:r>
              <a:rPr sz="1150" b="0" i="0">
                <a:solidFill>
                  <a:srgbClr val="9AA4BC"/>
                </a:solidFill>
                <a:latin typeface="Segoe UI"/>
              </a:rPr>
              <a:t>cleaning · domain · profiling · KPI · analytics · charts · quality · forecasting</a:t>
            </a:r>
          </a:p>
        </p:txBody>
      </p:sp>
      <p:sp>
        <p:nvSpPr>
          <p:cNvPr id="14" name="Rounded Rectangle 13"/>
          <p:cNvSpPr/>
          <p:nvPr/>
        </p:nvSpPr>
        <p:spPr>
          <a:xfrm>
            <a:off x="777240" y="3310128"/>
            <a:ext cx="109728" cy="658368"/>
          </a:xfrm>
          <a:prstGeom prst="roundRect">
            <a:avLst>
              <a:gd name="adj" fmla="val 50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wn Arrow 14"/>
          <p:cNvSpPr/>
          <p:nvPr/>
        </p:nvSpPr>
        <p:spPr>
          <a:xfrm>
            <a:off x="5980176" y="3950208"/>
            <a:ext cx="201168" cy="141732"/>
          </a:xfrm>
          <a:prstGeom prst="downArrow">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7240" y="4073652"/>
            <a:ext cx="10607040" cy="658368"/>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54864" bIns="54864"/>
          <a:lstStyle/>
          <a:p>
            <a:pPr algn="l">
              <a:lnSpc>
                <a:spcPct val="100000"/>
              </a:lnSpc>
              <a:spcAft>
                <a:spcPts val="200"/>
              </a:spcAft>
            </a:pPr>
            <a:r>
              <a:rPr sz="1450" b="1" i="0">
                <a:solidFill>
                  <a:srgbClr val="ECEEF6"/>
                </a:solidFill>
                <a:latin typeface="Segoe UI"/>
              </a:rPr>
              <a:t>AI Engines</a:t>
            </a:r>
          </a:p>
          <a:p>
            <a:pPr algn="l">
              <a:lnSpc>
                <a:spcPct val="105000"/>
              </a:lnSpc>
            </a:pPr>
            <a:r>
              <a:rPr sz="1150" b="0" i="0">
                <a:solidFill>
                  <a:srgbClr val="9AA4BC"/>
                </a:solidFill>
                <a:latin typeface="Segoe UI"/>
              </a:rPr>
              <a:t>AI Summary · Storytelling · Insights + Recommendations · NL→SQL (DuckDB) · Light RAG (FAISS)</a:t>
            </a:r>
          </a:p>
        </p:txBody>
      </p:sp>
      <p:sp>
        <p:nvSpPr>
          <p:cNvPr id="17" name="Rounded Rectangle 16"/>
          <p:cNvSpPr/>
          <p:nvPr/>
        </p:nvSpPr>
        <p:spPr>
          <a:xfrm>
            <a:off x="777240" y="4073652"/>
            <a:ext cx="109728" cy="658368"/>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wn Arrow 17"/>
          <p:cNvSpPr/>
          <p:nvPr/>
        </p:nvSpPr>
        <p:spPr>
          <a:xfrm>
            <a:off x="5980176" y="4713732"/>
            <a:ext cx="201168" cy="141732"/>
          </a:xfrm>
          <a:prstGeom prst="downArrow">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77240" y="4837176"/>
            <a:ext cx="10607040" cy="658368"/>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54864" bIns="54864"/>
          <a:lstStyle/>
          <a:p>
            <a:pPr algn="l">
              <a:lnSpc>
                <a:spcPct val="100000"/>
              </a:lnSpc>
              <a:spcAft>
                <a:spcPts val="200"/>
              </a:spcAft>
            </a:pPr>
            <a:r>
              <a:rPr sz="1450" b="1" i="0">
                <a:solidFill>
                  <a:srgbClr val="ECEEF6"/>
                </a:solidFill>
                <a:latin typeface="Segoe UI"/>
              </a:rPr>
              <a:t>LLM Gateway</a:t>
            </a:r>
          </a:p>
          <a:p>
            <a:pPr algn="l">
              <a:lnSpc>
                <a:spcPct val="105000"/>
              </a:lnSpc>
            </a:pPr>
            <a:r>
              <a:rPr sz="1150" b="0" i="0">
                <a:solidFill>
                  <a:srgbClr val="9AA4BC"/>
                </a:solidFill>
                <a:latin typeface="Segoe UI"/>
              </a:rPr>
              <a:t>utils/llm_client — Anthropic · OpenAI · OpenRouter  (fallback · retries · graceful degrade)</a:t>
            </a:r>
          </a:p>
        </p:txBody>
      </p:sp>
      <p:sp>
        <p:nvSpPr>
          <p:cNvPr id="20" name="Rounded Rectangle 19"/>
          <p:cNvSpPr/>
          <p:nvPr/>
        </p:nvSpPr>
        <p:spPr>
          <a:xfrm>
            <a:off x="777240" y="4837176"/>
            <a:ext cx="109728" cy="658368"/>
          </a:xfrm>
          <a:prstGeom prst="roundRect">
            <a:avLst>
              <a:gd name="adj" fmla="val 50000"/>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wn Arrow 20"/>
          <p:cNvSpPr/>
          <p:nvPr/>
        </p:nvSpPr>
        <p:spPr>
          <a:xfrm>
            <a:off x="5980176" y="5477256"/>
            <a:ext cx="201168" cy="141732"/>
          </a:xfrm>
          <a:prstGeom prst="downArrow">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77240" y="5600700"/>
            <a:ext cx="10607040" cy="658368"/>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54864" bIns="54864"/>
          <a:lstStyle/>
          <a:p>
            <a:pPr algn="l">
              <a:lnSpc>
                <a:spcPct val="100000"/>
              </a:lnSpc>
              <a:spcAft>
                <a:spcPts val="200"/>
              </a:spcAft>
            </a:pPr>
            <a:r>
              <a:rPr sz="1450" b="1" i="0">
                <a:solidFill>
                  <a:srgbClr val="ECEEF6"/>
                </a:solidFill>
                <a:latin typeface="Segoe UI"/>
              </a:rPr>
              <a:t>Storage &amp; Output</a:t>
            </a:r>
          </a:p>
          <a:p>
            <a:pPr algn="l">
              <a:lnSpc>
                <a:spcPct val="105000"/>
              </a:lnSpc>
            </a:pPr>
            <a:r>
              <a:rPr sz="1150" b="0" i="0">
                <a:solidFill>
                  <a:srgbClr val="9AA4BC"/>
                </a:solidFill>
                <a:latin typeface="Segoe UI"/>
              </a:rPr>
              <a:t>in-memory DuckDB · FAISS / NumPy vector store · session_state · exports → XLSX / PDF / PPTX</a:t>
            </a:r>
          </a:p>
        </p:txBody>
      </p:sp>
      <p:sp>
        <p:nvSpPr>
          <p:cNvPr id="23" name="Rounded Rectangle 22"/>
          <p:cNvSpPr/>
          <p:nvPr/>
        </p:nvSpPr>
        <p:spPr>
          <a:xfrm>
            <a:off x="777240" y="5600700"/>
            <a:ext cx="109728" cy="658368"/>
          </a:xfrm>
          <a:prstGeom prst="roundRect">
            <a:avLst>
              <a:gd name="adj" fmla="val 50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6419088"/>
            <a:ext cx="11091672" cy="12700"/>
          </a:xfrm>
          <a:prstGeom prst="rect">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455664"/>
            <a:ext cx="7315200" cy="274320"/>
          </a:xfrm>
          <a:prstGeom prst="rect">
            <a:avLst/>
          </a:prstGeom>
          <a:noFill/>
        </p:spPr>
        <p:txBody>
          <a:bodyPr wrap="square" anchor="t">
            <a:spAutoFit/>
          </a:bodyPr>
          <a:lstStyle/>
          <a:p>
            <a:pPr algn="l">
              <a:lnSpc>
                <a:spcPct val="105000"/>
              </a:lnSpc>
            </a:pPr>
            <a:r>
              <a:rPr sz="950" b="0" i="0">
                <a:solidFill>
                  <a:srgbClr val="6B7490"/>
                </a:solidFill>
                <a:latin typeface="Segoe UI"/>
              </a:rPr>
              <a:t>AI Data Reporting &amp; Analytics Assistant  ·  v3.0</a:t>
            </a:r>
          </a:p>
        </p:txBody>
      </p:sp>
      <p:sp>
        <p:nvSpPr>
          <p:cNvPr id="26" name="TextBox 25"/>
          <p:cNvSpPr txBox="1"/>
          <p:nvPr/>
        </p:nvSpPr>
        <p:spPr>
          <a:xfrm>
            <a:off x="10241280" y="6455664"/>
            <a:ext cx="1399032" cy="274320"/>
          </a:xfrm>
          <a:prstGeom prst="rect">
            <a:avLst/>
          </a:prstGeom>
          <a:noFill/>
        </p:spPr>
        <p:txBody>
          <a:bodyPr wrap="square" anchor="t">
            <a:spAutoFit/>
          </a:bodyPr>
          <a:lstStyle/>
          <a:p>
            <a:pPr algn="r">
              <a:lnSpc>
                <a:spcPct val="105000"/>
              </a:lnSpc>
            </a:pPr>
            <a:r>
              <a:rPr sz="950" b="0" i="0">
                <a:solidFill>
                  <a:srgbClr val="6B7490"/>
                </a:solidFill>
                <a:latin typeface="Consolas"/>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4063898" cy="731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3898" y="0"/>
            <a:ext cx="4063898" cy="7315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7796" y="0"/>
            <a:ext cx="4063898"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1064240" cy="822960"/>
          </a:xfrm>
          <a:prstGeom prst="rect">
            <a:avLst/>
          </a:prstGeom>
          <a:noFill/>
        </p:spPr>
        <p:txBody>
          <a:bodyPr wrap="square" anchor="t">
            <a:spAutoFit/>
          </a:bodyPr>
          <a:lstStyle/>
          <a:p>
            <a:pPr algn="l">
              <a:lnSpc>
                <a:spcPct val="105000"/>
              </a:lnSpc>
            </a:pPr>
            <a:r>
              <a:rPr sz="3300" b="1" i="0">
                <a:solidFill>
                  <a:srgbClr val="ECEEF6"/>
                </a:solidFill>
                <a:latin typeface="Segoe UI Semibold"/>
              </a:rPr>
              <a:t>Technical Stack</a:t>
            </a:r>
          </a:p>
        </p:txBody>
      </p:sp>
      <p:sp>
        <p:nvSpPr>
          <p:cNvPr id="6" name="TextBox 5"/>
          <p:cNvSpPr txBox="1"/>
          <p:nvPr/>
        </p:nvSpPr>
        <p:spPr>
          <a:xfrm>
            <a:off x="566928" y="1207008"/>
            <a:ext cx="11064240" cy="457200"/>
          </a:xfrm>
          <a:prstGeom prst="rect">
            <a:avLst/>
          </a:prstGeom>
          <a:noFill/>
        </p:spPr>
        <p:txBody>
          <a:bodyPr wrap="square" anchor="t">
            <a:spAutoFit/>
          </a:bodyPr>
          <a:lstStyle/>
          <a:p>
            <a:pPr algn="l">
              <a:lnSpc>
                <a:spcPct val="105000"/>
              </a:lnSpc>
            </a:pPr>
            <a:r>
              <a:rPr sz="1450" b="0" i="0">
                <a:solidFill>
                  <a:srgbClr val="9AA4BC"/>
                </a:solidFill>
                <a:latin typeface="Segoe UI"/>
              </a:rPr>
              <a:t>Production-grade Python data &amp; AI tooling</a:t>
            </a:r>
          </a:p>
        </p:txBody>
      </p:sp>
      <p:sp>
        <p:nvSpPr>
          <p:cNvPr id="7" name="Rounded Rectangle 6"/>
          <p:cNvSpPr/>
          <p:nvPr/>
        </p:nvSpPr>
        <p:spPr>
          <a:xfrm>
            <a:off x="548640" y="1874519"/>
            <a:ext cx="3584448" cy="196596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lnSpc>
                <a:spcPct val="100000"/>
              </a:lnSpc>
              <a:spcAft>
                <a:spcPts val="700"/>
              </a:spcAft>
            </a:pPr>
            <a:r>
              <a:rPr sz="1450" b="1" i="0">
                <a:solidFill>
                  <a:srgbClr val="6366F1"/>
                </a:solidFill>
                <a:latin typeface="Segoe UI"/>
              </a:rPr>
              <a:t>App &amp; UI</a:t>
            </a:r>
          </a:p>
          <a:p>
            <a:pPr algn="l">
              <a:lnSpc>
                <a:spcPct val="115000"/>
              </a:lnSpc>
              <a:spcAft>
                <a:spcPts val="300"/>
              </a:spcAft>
            </a:pPr>
            <a:r>
              <a:rPr sz="1200" b="0" i="0">
                <a:solidFill>
                  <a:srgbClr val="ECEEF6"/>
                </a:solidFill>
                <a:latin typeface="Segoe UI"/>
              </a:rPr>
              <a:t>•  Streamlit 1.35</a:t>
            </a:r>
          </a:p>
          <a:p>
            <a:pPr algn="l">
              <a:lnSpc>
                <a:spcPct val="115000"/>
              </a:lnSpc>
              <a:spcAft>
                <a:spcPts val="300"/>
              </a:spcAft>
            </a:pPr>
            <a:r>
              <a:rPr sz="1200" b="0" i="0">
                <a:solidFill>
                  <a:srgbClr val="ECEEF6"/>
                </a:solidFill>
                <a:latin typeface="Segoe UI"/>
              </a:rPr>
              <a:t>•  Python 3.11</a:t>
            </a:r>
          </a:p>
          <a:p>
            <a:pPr algn="l">
              <a:lnSpc>
                <a:spcPct val="115000"/>
              </a:lnSpc>
              <a:spcAft>
                <a:spcPts val="300"/>
              </a:spcAft>
            </a:pPr>
            <a:r>
              <a:rPr sz="1200" b="0" i="0">
                <a:solidFill>
                  <a:srgbClr val="ECEEF6"/>
                </a:solidFill>
                <a:latin typeface="Segoe UI"/>
              </a:rPr>
              <a:t>•  Custom dark CSS theme</a:t>
            </a:r>
          </a:p>
        </p:txBody>
      </p:sp>
      <p:sp>
        <p:nvSpPr>
          <p:cNvPr id="8" name="Rounded Rectangle 7"/>
          <p:cNvSpPr/>
          <p:nvPr/>
        </p:nvSpPr>
        <p:spPr>
          <a:xfrm>
            <a:off x="4297680" y="1874519"/>
            <a:ext cx="3584448" cy="196596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lnSpc>
                <a:spcPct val="100000"/>
              </a:lnSpc>
              <a:spcAft>
                <a:spcPts val="700"/>
              </a:spcAft>
            </a:pPr>
            <a:r>
              <a:rPr sz="1450" b="1" i="0">
                <a:solidFill>
                  <a:srgbClr val="38BDF8"/>
                </a:solidFill>
                <a:latin typeface="Segoe UI"/>
              </a:rPr>
              <a:t>Data &amp; Stats</a:t>
            </a:r>
          </a:p>
          <a:p>
            <a:pPr algn="l">
              <a:lnSpc>
                <a:spcPct val="115000"/>
              </a:lnSpc>
              <a:spcAft>
                <a:spcPts val="300"/>
              </a:spcAft>
            </a:pPr>
            <a:r>
              <a:rPr sz="1200" b="0" i="0">
                <a:solidFill>
                  <a:srgbClr val="ECEEF6"/>
                </a:solidFill>
                <a:latin typeface="Segoe UI"/>
              </a:rPr>
              <a:t>•  Pandas 2.2</a:t>
            </a:r>
          </a:p>
          <a:p>
            <a:pPr algn="l">
              <a:lnSpc>
                <a:spcPct val="115000"/>
              </a:lnSpc>
              <a:spcAft>
                <a:spcPts val="300"/>
              </a:spcAft>
            </a:pPr>
            <a:r>
              <a:rPr sz="1200" b="0" i="0">
                <a:solidFill>
                  <a:srgbClr val="ECEEF6"/>
                </a:solidFill>
                <a:latin typeface="Segoe UI"/>
              </a:rPr>
              <a:t>•  NumPy 1.26</a:t>
            </a:r>
          </a:p>
          <a:p>
            <a:pPr algn="l">
              <a:lnSpc>
                <a:spcPct val="115000"/>
              </a:lnSpc>
              <a:spcAft>
                <a:spcPts val="300"/>
              </a:spcAft>
            </a:pPr>
            <a:r>
              <a:rPr sz="1200" b="0" i="0">
                <a:solidFill>
                  <a:srgbClr val="ECEEF6"/>
                </a:solidFill>
                <a:latin typeface="Segoe UI"/>
              </a:rPr>
              <a:t>•  SciPy 1.13</a:t>
            </a:r>
          </a:p>
          <a:p>
            <a:pPr algn="l">
              <a:lnSpc>
                <a:spcPct val="115000"/>
              </a:lnSpc>
              <a:spcAft>
                <a:spcPts val="300"/>
              </a:spcAft>
            </a:pPr>
            <a:r>
              <a:rPr sz="1200" b="0" i="0">
                <a:solidFill>
                  <a:srgbClr val="ECEEF6"/>
                </a:solidFill>
                <a:latin typeface="Segoe UI"/>
              </a:rPr>
              <a:t>•  scikit-learn 1.5</a:t>
            </a:r>
          </a:p>
        </p:txBody>
      </p:sp>
      <p:sp>
        <p:nvSpPr>
          <p:cNvPr id="9" name="Rounded Rectangle 8"/>
          <p:cNvSpPr/>
          <p:nvPr/>
        </p:nvSpPr>
        <p:spPr>
          <a:xfrm>
            <a:off x="8046720" y="1874519"/>
            <a:ext cx="3584448" cy="196596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lnSpc>
                <a:spcPct val="100000"/>
              </a:lnSpc>
              <a:spcAft>
                <a:spcPts val="700"/>
              </a:spcAft>
            </a:pPr>
            <a:r>
              <a:rPr sz="1450" b="1" i="0">
                <a:solidFill>
                  <a:srgbClr val="A855F7"/>
                </a:solidFill>
                <a:latin typeface="Segoe UI"/>
              </a:rPr>
              <a:t>Visualization</a:t>
            </a:r>
          </a:p>
          <a:p>
            <a:pPr algn="l">
              <a:lnSpc>
                <a:spcPct val="115000"/>
              </a:lnSpc>
              <a:spcAft>
                <a:spcPts val="300"/>
              </a:spcAft>
            </a:pPr>
            <a:r>
              <a:rPr sz="1200" b="0" i="0">
                <a:solidFill>
                  <a:srgbClr val="ECEEF6"/>
                </a:solidFill>
                <a:latin typeface="Segoe UI"/>
              </a:rPr>
              <a:t>•  Plotly 5.22</a:t>
            </a:r>
          </a:p>
          <a:p>
            <a:pPr algn="l">
              <a:lnSpc>
                <a:spcPct val="115000"/>
              </a:lnSpc>
              <a:spcAft>
                <a:spcPts val="300"/>
              </a:spcAft>
            </a:pPr>
            <a:r>
              <a:rPr sz="1200" b="0" i="0">
                <a:solidFill>
                  <a:srgbClr val="ECEEF6"/>
                </a:solidFill>
                <a:latin typeface="Segoe UI"/>
              </a:rPr>
              <a:t>•  Kaleido (static export)</a:t>
            </a:r>
          </a:p>
        </p:txBody>
      </p:sp>
      <p:sp>
        <p:nvSpPr>
          <p:cNvPr id="10" name="Rounded Rectangle 9"/>
          <p:cNvSpPr/>
          <p:nvPr/>
        </p:nvSpPr>
        <p:spPr>
          <a:xfrm>
            <a:off x="548640" y="4069079"/>
            <a:ext cx="3584448" cy="196596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lnSpc>
                <a:spcPct val="100000"/>
              </a:lnSpc>
              <a:spcAft>
                <a:spcPts val="700"/>
              </a:spcAft>
            </a:pPr>
            <a:r>
              <a:rPr sz="1450" b="1" i="0">
                <a:solidFill>
                  <a:srgbClr val="6366F1"/>
                </a:solidFill>
                <a:latin typeface="Segoe UI"/>
              </a:rPr>
              <a:t>AI / LLM</a:t>
            </a:r>
          </a:p>
          <a:p>
            <a:pPr algn="l">
              <a:lnSpc>
                <a:spcPct val="115000"/>
              </a:lnSpc>
              <a:spcAft>
                <a:spcPts val="300"/>
              </a:spcAft>
            </a:pPr>
            <a:r>
              <a:rPr sz="1200" b="0" i="0">
                <a:solidFill>
                  <a:srgbClr val="ECEEF6"/>
                </a:solidFill>
                <a:latin typeface="Segoe UI"/>
              </a:rPr>
              <a:t>•  Anthropic Claude</a:t>
            </a:r>
          </a:p>
          <a:p>
            <a:pPr algn="l">
              <a:lnSpc>
                <a:spcPct val="115000"/>
              </a:lnSpc>
              <a:spcAft>
                <a:spcPts val="300"/>
              </a:spcAft>
            </a:pPr>
            <a:r>
              <a:rPr sz="1200" b="0" i="0">
                <a:solidFill>
                  <a:srgbClr val="ECEEF6"/>
                </a:solidFill>
                <a:latin typeface="Segoe UI"/>
              </a:rPr>
              <a:t>•  OpenAI GPT-4o</a:t>
            </a:r>
          </a:p>
          <a:p>
            <a:pPr algn="l">
              <a:lnSpc>
                <a:spcPct val="115000"/>
              </a:lnSpc>
              <a:spcAft>
                <a:spcPts val="300"/>
              </a:spcAft>
            </a:pPr>
            <a:r>
              <a:rPr sz="1200" b="0" i="0">
                <a:solidFill>
                  <a:srgbClr val="ECEEF6"/>
                </a:solidFill>
                <a:latin typeface="Segoe UI"/>
              </a:rPr>
              <a:t>•  OpenRouter (fallback)</a:t>
            </a:r>
          </a:p>
        </p:txBody>
      </p:sp>
      <p:sp>
        <p:nvSpPr>
          <p:cNvPr id="11" name="Rounded Rectangle 10"/>
          <p:cNvSpPr/>
          <p:nvPr/>
        </p:nvSpPr>
        <p:spPr>
          <a:xfrm>
            <a:off x="4297680" y="4069079"/>
            <a:ext cx="3584448" cy="196596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lnSpc>
                <a:spcPct val="100000"/>
              </a:lnSpc>
              <a:spcAft>
                <a:spcPts val="700"/>
              </a:spcAft>
            </a:pPr>
            <a:r>
              <a:rPr sz="1450" b="1" i="0">
                <a:solidFill>
                  <a:srgbClr val="38BDF8"/>
                </a:solidFill>
                <a:latin typeface="Segoe UI"/>
              </a:rPr>
              <a:t>SQL &amp; Retrieval</a:t>
            </a:r>
          </a:p>
          <a:p>
            <a:pPr algn="l">
              <a:lnSpc>
                <a:spcPct val="115000"/>
              </a:lnSpc>
              <a:spcAft>
                <a:spcPts val="300"/>
              </a:spcAft>
            </a:pPr>
            <a:r>
              <a:rPr sz="1200" b="0" i="0">
                <a:solidFill>
                  <a:srgbClr val="ECEEF6"/>
                </a:solidFill>
                <a:latin typeface="Segoe UI"/>
              </a:rPr>
              <a:t>•  DuckDB 1.0 (NL→SQL)</a:t>
            </a:r>
          </a:p>
          <a:p>
            <a:pPr algn="l">
              <a:lnSpc>
                <a:spcPct val="115000"/>
              </a:lnSpc>
              <a:spcAft>
                <a:spcPts val="300"/>
              </a:spcAft>
            </a:pPr>
            <a:r>
              <a:rPr sz="1200" b="0" i="0">
                <a:solidFill>
                  <a:srgbClr val="ECEEF6"/>
                </a:solidFill>
                <a:latin typeface="Segoe UI"/>
              </a:rPr>
              <a:t>•  FAISS-cpu 1.8 (vectors)</a:t>
            </a:r>
          </a:p>
          <a:p>
            <a:pPr algn="l">
              <a:lnSpc>
                <a:spcPct val="115000"/>
              </a:lnSpc>
              <a:spcAft>
                <a:spcPts val="300"/>
              </a:spcAft>
            </a:pPr>
            <a:r>
              <a:rPr sz="1200" b="0" i="0">
                <a:solidFill>
                  <a:srgbClr val="ECEEF6"/>
                </a:solidFill>
                <a:latin typeface="Segoe UI"/>
              </a:rPr>
              <a:t>•  HashingVectorizer</a:t>
            </a:r>
          </a:p>
        </p:txBody>
      </p:sp>
      <p:sp>
        <p:nvSpPr>
          <p:cNvPr id="12" name="Rounded Rectangle 11"/>
          <p:cNvSpPr/>
          <p:nvPr/>
        </p:nvSpPr>
        <p:spPr>
          <a:xfrm>
            <a:off x="8046720" y="4069079"/>
            <a:ext cx="3584448" cy="196596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lnSpc>
                <a:spcPct val="100000"/>
              </a:lnSpc>
              <a:spcAft>
                <a:spcPts val="700"/>
              </a:spcAft>
            </a:pPr>
            <a:r>
              <a:rPr sz="1450" b="1" i="0">
                <a:solidFill>
                  <a:srgbClr val="A855F7"/>
                </a:solidFill>
                <a:latin typeface="Segoe UI"/>
              </a:rPr>
              <a:t>Reporting &amp; I/O</a:t>
            </a:r>
          </a:p>
          <a:p>
            <a:pPr algn="l">
              <a:lnSpc>
                <a:spcPct val="115000"/>
              </a:lnSpc>
              <a:spcAft>
                <a:spcPts val="300"/>
              </a:spcAft>
            </a:pPr>
            <a:r>
              <a:rPr sz="1200" b="0" i="0">
                <a:solidFill>
                  <a:srgbClr val="ECEEF6"/>
                </a:solidFill>
                <a:latin typeface="Segoe UI"/>
              </a:rPr>
              <a:t>•  ReportLab (PDF)</a:t>
            </a:r>
          </a:p>
          <a:p>
            <a:pPr algn="l">
              <a:lnSpc>
                <a:spcPct val="115000"/>
              </a:lnSpc>
              <a:spcAft>
                <a:spcPts val="300"/>
              </a:spcAft>
            </a:pPr>
            <a:r>
              <a:rPr sz="1200" b="0" i="0">
                <a:solidFill>
                  <a:srgbClr val="ECEEF6"/>
                </a:solidFill>
                <a:latin typeface="Segoe UI"/>
              </a:rPr>
              <a:t>•  python-pptx (PPTX)</a:t>
            </a:r>
          </a:p>
          <a:p>
            <a:pPr algn="l">
              <a:lnSpc>
                <a:spcPct val="115000"/>
              </a:lnSpc>
              <a:spcAft>
                <a:spcPts val="300"/>
              </a:spcAft>
            </a:pPr>
            <a:r>
              <a:rPr sz="1200" b="0" i="0">
                <a:solidFill>
                  <a:srgbClr val="ECEEF6"/>
                </a:solidFill>
                <a:latin typeface="Segoe UI"/>
              </a:rPr>
              <a:t>•  openpyxl / XlsxWriter</a:t>
            </a:r>
          </a:p>
          <a:p>
            <a:pPr algn="l">
              <a:lnSpc>
                <a:spcPct val="115000"/>
              </a:lnSpc>
              <a:spcAft>
                <a:spcPts val="300"/>
              </a:spcAft>
            </a:pPr>
            <a:r>
              <a:rPr sz="1200" b="0" i="0">
                <a:solidFill>
                  <a:srgbClr val="ECEEF6"/>
                </a:solidFill>
                <a:latin typeface="Segoe UI"/>
              </a:rPr>
              <a:t>•  Pillow · python-dotenv</a:t>
            </a:r>
          </a:p>
        </p:txBody>
      </p:sp>
      <p:sp>
        <p:nvSpPr>
          <p:cNvPr id="13" name="Rectangle 12"/>
          <p:cNvSpPr/>
          <p:nvPr/>
        </p:nvSpPr>
        <p:spPr>
          <a:xfrm>
            <a:off x="548640" y="6419088"/>
            <a:ext cx="11091672" cy="12700"/>
          </a:xfrm>
          <a:prstGeom prst="rect">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455664"/>
            <a:ext cx="7315200" cy="274320"/>
          </a:xfrm>
          <a:prstGeom prst="rect">
            <a:avLst/>
          </a:prstGeom>
          <a:noFill/>
        </p:spPr>
        <p:txBody>
          <a:bodyPr wrap="square" anchor="t">
            <a:spAutoFit/>
          </a:bodyPr>
          <a:lstStyle/>
          <a:p>
            <a:pPr algn="l">
              <a:lnSpc>
                <a:spcPct val="105000"/>
              </a:lnSpc>
            </a:pPr>
            <a:r>
              <a:rPr sz="950" b="0" i="0">
                <a:solidFill>
                  <a:srgbClr val="6B7490"/>
                </a:solidFill>
                <a:latin typeface="Segoe UI"/>
              </a:rPr>
              <a:t>AI Data Reporting &amp; Analytics Assistant  ·  v3.0</a:t>
            </a:r>
          </a:p>
        </p:txBody>
      </p:sp>
      <p:sp>
        <p:nvSpPr>
          <p:cNvPr id="15" name="TextBox 14"/>
          <p:cNvSpPr txBox="1"/>
          <p:nvPr/>
        </p:nvSpPr>
        <p:spPr>
          <a:xfrm>
            <a:off x="10241280" y="6455664"/>
            <a:ext cx="1399032" cy="274320"/>
          </a:xfrm>
          <a:prstGeom prst="rect">
            <a:avLst/>
          </a:prstGeom>
          <a:noFill/>
        </p:spPr>
        <p:txBody>
          <a:bodyPr wrap="square" anchor="t">
            <a:spAutoFit/>
          </a:bodyPr>
          <a:lstStyle/>
          <a:p>
            <a:pPr algn="r">
              <a:lnSpc>
                <a:spcPct val="105000"/>
              </a:lnSpc>
            </a:pPr>
            <a:r>
              <a:rPr sz="950" b="0" i="0">
                <a:solidFill>
                  <a:srgbClr val="6B7490"/>
                </a:solidFill>
                <a:latin typeface="Consolas"/>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4063898" cy="731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3898" y="0"/>
            <a:ext cx="4063898" cy="7315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7796" y="0"/>
            <a:ext cx="4063898"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1064240" cy="822960"/>
          </a:xfrm>
          <a:prstGeom prst="rect">
            <a:avLst/>
          </a:prstGeom>
          <a:noFill/>
        </p:spPr>
        <p:txBody>
          <a:bodyPr wrap="square" anchor="t">
            <a:spAutoFit/>
          </a:bodyPr>
          <a:lstStyle/>
          <a:p>
            <a:pPr algn="l">
              <a:lnSpc>
                <a:spcPct val="105000"/>
              </a:lnSpc>
            </a:pPr>
            <a:r>
              <a:rPr sz="3300" b="1" i="0">
                <a:solidFill>
                  <a:srgbClr val="ECEEF6"/>
                </a:solidFill>
                <a:latin typeface="Segoe UI Semibold"/>
              </a:rPr>
              <a:t>Workflow Process</a:t>
            </a:r>
          </a:p>
        </p:txBody>
      </p:sp>
      <p:sp>
        <p:nvSpPr>
          <p:cNvPr id="6" name="TextBox 5"/>
          <p:cNvSpPr txBox="1"/>
          <p:nvPr/>
        </p:nvSpPr>
        <p:spPr>
          <a:xfrm>
            <a:off x="566928" y="1207008"/>
            <a:ext cx="11064240" cy="457200"/>
          </a:xfrm>
          <a:prstGeom prst="rect">
            <a:avLst/>
          </a:prstGeom>
          <a:noFill/>
        </p:spPr>
        <p:txBody>
          <a:bodyPr wrap="square" anchor="t">
            <a:spAutoFit/>
          </a:bodyPr>
          <a:lstStyle/>
          <a:p>
            <a:pPr algn="l">
              <a:lnSpc>
                <a:spcPct val="105000"/>
              </a:lnSpc>
            </a:pPr>
            <a:r>
              <a:rPr sz="1450" b="0" i="0">
                <a:solidFill>
                  <a:srgbClr val="9AA4BC"/>
                </a:solidFill>
                <a:latin typeface="Segoe UI"/>
              </a:rPr>
              <a:t>End-to-end flow — fast path runs on upload, AI work runs on demand</a:t>
            </a:r>
          </a:p>
        </p:txBody>
      </p:sp>
      <p:sp>
        <p:nvSpPr>
          <p:cNvPr id="7" name="TextBox 6"/>
          <p:cNvSpPr txBox="1"/>
          <p:nvPr/>
        </p:nvSpPr>
        <p:spPr>
          <a:xfrm>
            <a:off x="548640" y="1691640"/>
            <a:ext cx="7315200" cy="365760"/>
          </a:xfrm>
          <a:prstGeom prst="rect">
            <a:avLst/>
          </a:prstGeom>
          <a:noFill/>
        </p:spPr>
        <p:txBody>
          <a:bodyPr wrap="square" anchor="t">
            <a:spAutoFit/>
          </a:bodyPr>
          <a:lstStyle/>
          <a:p>
            <a:pPr algn="l">
              <a:lnSpc>
                <a:spcPct val="105000"/>
              </a:lnSpc>
            </a:pPr>
            <a:r>
              <a:rPr sz="1250" b="1" i="0">
                <a:solidFill>
                  <a:srgbClr val="38BDF8"/>
                </a:solidFill>
                <a:latin typeface="Segoe UI Semibold"/>
              </a:rPr>
              <a:t>AUTOMATIC ON UPLOAD (FAST PATH)</a:t>
            </a:r>
          </a:p>
        </p:txBody>
      </p:sp>
      <p:sp>
        <p:nvSpPr>
          <p:cNvPr id="8" name="Rounded Rectangle 7"/>
          <p:cNvSpPr/>
          <p:nvPr/>
        </p:nvSpPr>
        <p:spPr>
          <a:xfrm>
            <a:off x="548640" y="2057400"/>
            <a:ext cx="1993392" cy="114300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1350" b="1" i="0">
                <a:solidFill>
                  <a:srgbClr val="ECEEF6"/>
                </a:solidFill>
                <a:latin typeface="Segoe UI"/>
              </a:rPr>
              <a:t>Upload</a:t>
            </a:r>
          </a:p>
          <a:p>
            <a:pPr algn="ctr">
              <a:lnSpc>
                <a:spcPct val="100000"/>
              </a:lnSpc>
            </a:pPr>
            <a:r>
              <a:rPr sz="1050" b="0" i="0">
                <a:solidFill>
                  <a:srgbClr val="9AA4BC"/>
                </a:solidFill>
                <a:latin typeface="Segoe UI"/>
              </a:rPr>
              <a:t>CSV / XLSX</a:t>
            </a:r>
          </a:p>
        </p:txBody>
      </p:sp>
      <p:sp>
        <p:nvSpPr>
          <p:cNvPr id="9" name="Chevron 8"/>
          <p:cNvSpPr/>
          <p:nvPr/>
        </p:nvSpPr>
        <p:spPr>
          <a:xfrm>
            <a:off x="2523744" y="2423160"/>
            <a:ext cx="182880" cy="411480"/>
          </a:xfrm>
          <a:prstGeom prst="chevron">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43200" y="2057400"/>
            <a:ext cx="1993392" cy="114300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1350" b="1" i="0">
                <a:solidFill>
                  <a:srgbClr val="ECEEF6"/>
                </a:solidFill>
                <a:latin typeface="Segoe UI"/>
              </a:rPr>
              <a:t>Auto-Clean</a:t>
            </a:r>
          </a:p>
          <a:p>
            <a:pPr algn="ctr">
              <a:lnSpc>
                <a:spcPct val="100000"/>
              </a:lnSpc>
            </a:pPr>
            <a:r>
              <a:rPr sz="1050" b="0" i="0">
                <a:solidFill>
                  <a:srgbClr val="9AA4BC"/>
                </a:solidFill>
                <a:latin typeface="Segoe UI"/>
              </a:rPr>
              <a:t>&amp; type infer</a:t>
            </a:r>
          </a:p>
        </p:txBody>
      </p:sp>
      <p:sp>
        <p:nvSpPr>
          <p:cNvPr id="11" name="Chevron 10"/>
          <p:cNvSpPr/>
          <p:nvPr/>
        </p:nvSpPr>
        <p:spPr>
          <a:xfrm>
            <a:off x="4718304" y="2423160"/>
            <a:ext cx="182880" cy="411480"/>
          </a:xfrm>
          <a:prstGeom prst="chevron">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37760" y="2057400"/>
            <a:ext cx="1993392" cy="114300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1350" b="1" i="0">
                <a:solidFill>
                  <a:srgbClr val="ECEEF6"/>
                </a:solidFill>
                <a:latin typeface="Segoe UI"/>
              </a:rPr>
              <a:t>Detect</a:t>
            </a:r>
          </a:p>
          <a:p>
            <a:pPr algn="ctr">
              <a:lnSpc>
                <a:spcPct val="100000"/>
              </a:lnSpc>
            </a:pPr>
            <a:r>
              <a:rPr sz="1050" b="0" i="0">
                <a:solidFill>
                  <a:srgbClr val="9AA4BC"/>
                </a:solidFill>
                <a:latin typeface="Segoe UI"/>
              </a:rPr>
              <a:t>Domain</a:t>
            </a:r>
          </a:p>
        </p:txBody>
      </p:sp>
      <p:sp>
        <p:nvSpPr>
          <p:cNvPr id="13" name="Chevron 12"/>
          <p:cNvSpPr/>
          <p:nvPr/>
        </p:nvSpPr>
        <p:spPr>
          <a:xfrm>
            <a:off x="6912864" y="2423160"/>
            <a:ext cx="182880" cy="411480"/>
          </a:xfrm>
          <a:prstGeom prst="chevron">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32320" y="2057400"/>
            <a:ext cx="1993392" cy="114300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1350" b="1" i="0">
                <a:solidFill>
                  <a:srgbClr val="ECEEF6"/>
                </a:solidFill>
                <a:latin typeface="Segoe UI"/>
              </a:rPr>
              <a:t>Profile · KPIs</a:t>
            </a:r>
          </a:p>
          <a:p>
            <a:pPr algn="ctr">
              <a:lnSpc>
                <a:spcPct val="100000"/>
              </a:lnSpc>
            </a:pPr>
            <a:r>
              <a:rPr sz="1050" b="0" i="0">
                <a:solidFill>
                  <a:srgbClr val="9AA4BC"/>
                </a:solidFill>
                <a:latin typeface="Segoe UI"/>
              </a:rPr>
              <a:t>· Analytics</a:t>
            </a:r>
          </a:p>
        </p:txBody>
      </p:sp>
      <p:sp>
        <p:nvSpPr>
          <p:cNvPr id="15" name="Chevron 14"/>
          <p:cNvSpPr/>
          <p:nvPr/>
        </p:nvSpPr>
        <p:spPr>
          <a:xfrm>
            <a:off x="9107424" y="2423160"/>
            <a:ext cx="182880" cy="411480"/>
          </a:xfrm>
          <a:prstGeom prst="chevron">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326880" y="2057400"/>
            <a:ext cx="1993392" cy="114300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1350" b="1" i="0">
                <a:solidFill>
                  <a:srgbClr val="ECEEF6"/>
                </a:solidFill>
                <a:latin typeface="Segoe UI"/>
              </a:rPr>
              <a:t>Smart</a:t>
            </a:r>
          </a:p>
          <a:p>
            <a:pPr algn="ctr">
              <a:lnSpc>
                <a:spcPct val="100000"/>
              </a:lnSpc>
            </a:pPr>
            <a:r>
              <a:rPr sz="1050" b="0" i="0">
                <a:solidFill>
                  <a:srgbClr val="9AA4BC"/>
                </a:solidFill>
                <a:latin typeface="Segoe UI"/>
              </a:rPr>
              <a:t>Charts</a:t>
            </a:r>
          </a:p>
        </p:txBody>
      </p:sp>
      <p:sp>
        <p:nvSpPr>
          <p:cNvPr id="17" name="Down Arrow 16"/>
          <p:cNvSpPr/>
          <p:nvPr/>
        </p:nvSpPr>
        <p:spPr>
          <a:xfrm>
            <a:off x="5486400" y="3218688"/>
            <a:ext cx="274320" cy="365760"/>
          </a:xfrm>
          <a:prstGeom prst="downArrow">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840480"/>
            <a:ext cx="7315200" cy="365760"/>
          </a:xfrm>
          <a:prstGeom prst="rect">
            <a:avLst/>
          </a:prstGeom>
          <a:noFill/>
        </p:spPr>
        <p:txBody>
          <a:bodyPr wrap="square" anchor="t">
            <a:spAutoFit/>
          </a:bodyPr>
          <a:lstStyle/>
          <a:p>
            <a:pPr algn="l">
              <a:lnSpc>
                <a:spcPct val="105000"/>
              </a:lnSpc>
            </a:pPr>
            <a:r>
              <a:rPr sz="1250" b="1" i="0">
                <a:solidFill>
                  <a:srgbClr val="A855F7"/>
                </a:solidFill>
                <a:latin typeface="Segoe UI Semibold"/>
              </a:rPr>
              <a:t>ON DEMAND, PER TAB (LAZY + CACHED)</a:t>
            </a:r>
          </a:p>
        </p:txBody>
      </p:sp>
      <p:sp>
        <p:nvSpPr>
          <p:cNvPr id="19" name="Rounded Rectangle 18"/>
          <p:cNvSpPr/>
          <p:nvPr/>
        </p:nvSpPr>
        <p:spPr>
          <a:xfrm>
            <a:off x="548640" y="4206240"/>
            <a:ext cx="1691640" cy="1143000"/>
          </a:xfrm>
          <a:prstGeom prst="roundRect">
            <a:avLst>
              <a:gd name="adj" fmla="val 6000"/>
            </a:avLst>
          </a:prstGeom>
          <a:solidFill>
            <a:srgbClr val="1B233A"/>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1250" b="1" i="0">
                <a:solidFill>
                  <a:srgbClr val="ECEEF6"/>
                </a:solidFill>
                <a:latin typeface="Segoe UI"/>
              </a:rPr>
              <a:t>AI Executive</a:t>
            </a:r>
          </a:p>
          <a:p>
            <a:pPr algn="ctr">
              <a:lnSpc>
                <a:spcPct val="100000"/>
              </a:lnSpc>
            </a:pPr>
            <a:r>
              <a:rPr sz="1000" b="0" i="0">
                <a:solidFill>
                  <a:srgbClr val="9AA4BC"/>
                </a:solidFill>
                <a:latin typeface="Segoe UI"/>
              </a:rPr>
              <a:t>Summary</a:t>
            </a:r>
          </a:p>
        </p:txBody>
      </p:sp>
      <p:sp>
        <p:nvSpPr>
          <p:cNvPr id="20" name="Chevron 19"/>
          <p:cNvSpPr/>
          <p:nvPr/>
        </p:nvSpPr>
        <p:spPr>
          <a:xfrm>
            <a:off x="2221992" y="4572000"/>
            <a:ext cx="164592" cy="411480"/>
          </a:xfrm>
          <a:prstGeom prst="chevron">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395728" y="4206240"/>
            <a:ext cx="1691640" cy="1143000"/>
          </a:xfrm>
          <a:prstGeom prst="roundRect">
            <a:avLst>
              <a:gd name="adj" fmla="val 6000"/>
            </a:avLst>
          </a:prstGeom>
          <a:solidFill>
            <a:srgbClr val="1B233A"/>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1250" b="1" i="0">
                <a:solidFill>
                  <a:srgbClr val="ECEEF6"/>
                </a:solidFill>
                <a:latin typeface="Segoe UI"/>
              </a:rPr>
              <a:t>Data</a:t>
            </a:r>
          </a:p>
          <a:p>
            <a:pPr algn="ctr">
              <a:lnSpc>
                <a:spcPct val="100000"/>
              </a:lnSpc>
            </a:pPr>
            <a:r>
              <a:rPr sz="1000" b="0" i="0">
                <a:solidFill>
                  <a:srgbClr val="9AA4BC"/>
                </a:solidFill>
                <a:latin typeface="Segoe UI"/>
              </a:rPr>
              <a:t>Story</a:t>
            </a:r>
          </a:p>
        </p:txBody>
      </p:sp>
      <p:sp>
        <p:nvSpPr>
          <p:cNvPr id="22" name="Chevron 21"/>
          <p:cNvSpPr/>
          <p:nvPr/>
        </p:nvSpPr>
        <p:spPr>
          <a:xfrm>
            <a:off x="4069080" y="4572000"/>
            <a:ext cx="164592" cy="411480"/>
          </a:xfrm>
          <a:prstGeom prst="chevron">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242816" y="4206240"/>
            <a:ext cx="1691640" cy="1143000"/>
          </a:xfrm>
          <a:prstGeom prst="roundRect">
            <a:avLst>
              <a:gd name="adj" fmla="val 6000"/>
            </a:avLst>
          </a:prstGeom>
          <a:solidFill>
            <a:srgbClr val="1B233A"/>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1250" b="1" i="0">
                <a:solidFill>
                  <a:srgbClr val="ECEEF6"/>
                </a:solidFill>
                <a:latin typeface="Segoe UI"/>
              </a:rPr>
              <a:t>Insights &amp;</a:t>
            </a:r>
          </a:p>
          <a:p>
            <a:pPr algn="ctr">
              <a:lnSpc>
                <a:spcPct val="100000"/>
              </a:lnSpc>
            </a:pPr>
            <a:r>
              <a:rPr sz="1000" b="0" i="0">
                <a:solidFill>
                  <a:srgbClr val="9AA4BC"/>
                </a:solidFill>
                <a:latin typeface="Segoe UI"/>
              </a:rPr>
              <a:t>Recommendations</a:t>
            </a:r>
          </a:p>
        </p:txBody>
      </p:sp>
      <p:sp>
        <p:nvSpPr>
          <p:cNvPr id="24" name="Chevron 23"/>
          <p:cNvSpPr/>
          <p:nvPr/>
        </p:nvSpPr>
        <p:spPr>
          <a:xfrm>
            <a:off x="5916168" y="4572000"/>
            <a:ext cx="164592" cy="411480"/>
          </a:xfrm>
          <a:prstGeom prst="chevron">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089904" y="4206240"/>
            <a:ext cx="1691640" cy="1143000"/>
          </a:xfrm>
          <a:prstGeom prst="roundRect">
            <a:avLst>
              <a:gd name="adj" fmla="val 6000"/>
            </a:avLst>
          </a:prstGeom>
          <a:solidFill>
            <a:srgbClr val="1B233A"/>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1250" b="1" i="0">
                <a:solidFill>
                  <a:srgbClr val="ECEEF6"/>
                </a:solidFill>
                <a:latin typeface="Segoe UI"/>
              </a:rPr>
              <a:t>NL → SQL</a:t>
            </a:r>
          </a:p>
          <a:p>
            <a:pPr algn="ctr">
              <a:lnSpc>
                <a:spcPct val="100000"/>
              </a:lnSpc>
            </a:pPr>
            <a:r>
              <a:rPr sz="1000" b="0" i="0">
                <a:solidFill>
                  <a:srgbClr val="9AA4BC"/>
                </a:solidFill>
                <a:latin typeface="Segoe UI"/>
              </a:rPr>
              <a:t>(DuckDB)</a:t>
            </a:r>
          </a:p>
        </p:txBody>
      </p:sp>
      <p:sp>
        <p:nvSpPr>
          <p:cNvPr id="26" name="Chevron 25"/>
          <p:cNvSpPr/>
          <p:nvPr/>
        </p:nvSpPr>
        <p:spPr>
          <a:xfrm>
            <a:off x="7763256" y="4572000"/>
            <a:ext cx="164592" cy="411480"/>
          </a:xfrm>
          <a:prstGeom prst="chevron">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936992" y="4206240"/>
            <a:ext cx="1691640" cy="1143000"/>
          </a:xfrm>
          <a:prstGeom prst="roundRect">
            <a:avLst>
              <a:gd name="adj" fmla="val 6000"/>
            </a:avLst>
          </a:prstGeom>
          <a:solidFill>
            <a:srgbClr val="1B233A"/>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1250" b="1" i="0">
                <a:solidFill>
                  <a:srgbClr val="ECEEF6"/>
                </a:solidFill>
                <a:latin typeface="Segoe UI"/>
              </a:rPr>
              <a:t>RAG</a:t>
            </a:r>
          </a:p>
          <a:p>
            <a:pPr algn="ctr">
              <a:lnSpc>
                <a:spcPct val="100000"/>
              </a:lnSpc>
            </a:pPr>
            <a:r>
              <a:rPr sz="1000" b="0" i="0">
                <a:solidFill>
                  <a:srgbClr val="9AA4BC"/>
                </a:solidFill>
                <a:latin typeface="Segoe UI"/>
              </a:rPr>
              <a:t>Q&amp;A</a:t>
            </a:r>
          </a:p>
        </p:txBody>
      </p:sp>
      <p:sp>
        <p:nvSpPr>
          <p:cNvPr id="28" name="Chevron 27"/>
          <p:cNvSpPr/>
          <p:nvPr/>
        </p:nvSpPr>
        <p:spPr>
          <a:xfrm>
            <a:off x="9610344" y="4572000"/>
            <a:ext cx="164592" cy="411480"/>
          </a:xfrm>
          <a:prstGeom prst="chevron">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784080" y="4206240"/>
            <a:ext cx="1691640" cy="1143000"/>
          </a:xfrm>
          <a:prstGeom prst="roundRect">
            <a:avLst>
              <a:gd name="adj" fmla="val 6000"/>
            </a:avLst>
          </a:prstGeom>
          <a:solidFill>
            <a:srgbClr val="1B233A"/>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1250" b="1" i="0">
                <a:solidFill>
                  <a:srgbClr val="ECEEF6"/>
                </a:solidFill>
                <a:latin typeface="Segoe UI"/>
              </a:rPr>
              <a:t>Branded</a:t>
            </a:r>
          </a:p>
          <a:p>
            <a:pPr algn="ctr">
              <a:lnSpc>
                <a:spcPct val="100000"/>
              </a:lnSpc>
            </a:pPr>
            <a:r>
              <a:rPr sz="1000" b="0" i="0">
                <a:solidFill>
                  <a:srgbClr val="9AA4BC"/>
                </a:solidFill>
                <a:latin typeface="Segoe UI"/>
              </a:rPr>
              <a:t>Export</a:t>
            </a:r>
          </a:p>
        </p:txBody>
      </p:sp>
      <p:sp>
        <p:nvSpPr>
          <p:cNvPr id="30" name="Rectangle 29"/>
          <p:cNvSpPr/>
          <p:nvPr/>
        </p:nvSpPr>
        <p:spPr>
          <a:xfrm>
            <a:off x="548640" y="6419088"/>
            <a:ext cx="11091672" cy="12700"/>
          </a:xfrm>
          <a:prstGeom prst="rect">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455664"/>
            <a:ext cx="7315200" cy="274320"/>
          </a:xfrm>
          <a:prstGeom prst="rect">
            <a:avLst/>
          </a:prstGeom>
          <a:noFill/>
        </p:spPr>
        <p:txBody>
          <a:bodyPr wrap="square" anchor="t">
            <a:spAutoFit/>
          </a:bodyPr>
          <a:lstStyle/>
          <a:p>
            <a:pPr algn="l">
              <a:lnSpc>
                <a:spcPct val="105000"/>
              </a:lnSpc>
            </a:pPr>
            <a:r>
              <a:rPr sz="950" b="0" i="0">
                <a:solidFill>
                  <a:srgbClr val="6B7490"/>
                </a:solidFill>
                <a:latin typeface="Segoe UI"/>
              </a:rPr>
              <a:t>AI Data Reporting &amp; Analytics Assistant  ·  v3.0</a:t>
            </a:r>
          </a:p>
        </p:txBody>
      </p:sp>
      <p:sp>
        <p:nvSpPr>
          <p:cNvPr id="32" name="TextBox 31"/>
          <p:cNvSpPr txBox="1"/>
          <p:nvPr/>
        </p:nvSpPr>
        <p:spPr>
          <a:xfrm>
            <a:off x="10241280" y="6455664"/>
            <a:ext cx="1399032" cy="274320"/>
          </a:xfrm>
          <a:prstGeom prst="rect">
            <a:avLst/>
          </a:prstGeom>
          <a:noFill/>
        </p:spPr>
        <p:txBody>
          <a:bodyPr wrap="square" anchor="t">
            <a:spAutoFit/>
          </a:bodyPr>
          <a:lstStyle/>
          <a:p>
            <a:pPr algn="r">
              <a:lnSpc>
                <a:spcPct val="105000"/>
              </a:lnSpc>
            </a:pPr>
            <a:r>
              <a:rPr sz="950" b="0" i="0">
                <a:solidFill>
                  <a:srgbClr val="6B7490"/>
                </a:solidFill>
                <a:latin typeface="Consolas"/>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4063898" cy="731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3898" y="0"/>
            <a:ext cx="4063898" cy="7315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7796" y="0"/>
            <a:ext cx="4063898"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1064240" cy="822960"/>
          </a:xfrm>
          <a:prstGeom prst="rect">
            <a:avLst/>
          </a:prstGeom>
          <a:noFill/>
        </p:spPr>
        <p:txBody>
          <a:bodyPr wrap="square" anchor="t">
            <a:spAutoFit/>
          </a:bodyPr>
          <a:lstStyle/>
          <a:p>
            <a:pPr algn="l">
              <a:lnSpc>
                <a:spcPct val="105000"/>
              </a:lnSpc>
            </a:pPr>
            <a:r>
              <a:rPr sz="3300" b="1" i="0">
                <a:solidFill>
                  <a:srgbClr val="ECEEF6"/>
                </a:solidFill>
                <a:latin typeface="Segoe UI Semibold"/>
              </a:rPr>
              <a:t>Features &amp; Functionality</a:t>
            </a:r>
          </a:p>
        </p:txBody>
      </p:sp>
      <p:sp>
        <p:nvSpPr>
          <p:cNvPr id="6" name="TextBox 5"/>
          <p:cNvSpPr txBox="1"/>
          <p:nvPr/>
        </p:nvSpPr>
        <p:spPr>
          <a:xfrm>
            <a:off x="566928" y="1207008"/>
            <a:ext cx="11064240" cy="457200"/>
          </a:xfrm>
          <a:prstGeom prst="rect">
            <a:avLst/>
          </a:prstGeom>
          <a:noFill/>
        </p:spPr>
        <p:txBody>
          <a:bodyPr wrap="square" anchor="t">
            <a:spAutoFit/>
          </a:bodyPr>
          <a:lstStyle/>
          <a:p>
            <a:pPr algn="l">
              <a:lnSpc>
                <a:spcPct val="105000"/>
              </a:lnSpc>
            </a:pPr>
            <a:r>
              <a:rPr sz="1450" b="0" i="0">
                <a:solidFill>
                  <a:srgbClr val="9AA4BC"/>
                </a:solidFill>
                <a:latin typeface="Segoe UI"/>
              </a:rPr>
              <a:t>A cohesive, domain-aware BI workspace</a:t>
            </a:r>
          </a:p>
        </p:txBody>
      </p:sp>
      <p:sp>
        <p:nvSpPr>
          <p:cNvPr id="7" name="Rounded Rectangle 6"/>
          <p:cNvSpPr/>
          <p:nvPr/>
        </p:nvSpPr>
        <p:spPr>
          <a:xfrm>
            <a:off x="548640" y="1828800"/>
            <a:ext cx="5486400" cy="420624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53912" y="1828800"/>
            <a:ext cx="5486400" cy="420624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03120"/>
            <a:ext cx="5029200" cy="3657600"/>
          </a:xfrm>
          <a:prstGeom prst="rect">
            <a:avLst/>
          </a:prstGeom>
          <a:noFill/>
        </p:spPr>
        <p:txBody>
          <a:bodyPr wrap="square">
            <a:spAutoFit/>
          </a:bodyPr>
          <a:lstStyle/>
          <a:p>
            <a:pPr>
              <a:lnSpc>
                <a:spcPct val="108000"/>
              </a:lnSpc>
              <a:spcAft>
                <a:spcPts val="1400"/>
              </a:spcAft>
            </a:pPr>
            <a:r>
              <a:rPr sz="1350" b="1" i="0">
                <a:solidFill>
                  <a:srgbClr val="6366F1"/>
                </a:solidFill>
                <a:latin typeface="Segoe UI"/>
              </a:rPr>
              <a:t>—  </a:t>
            </a:r>
            <a:r>
              <a:rPr sz="1350" b="1" i="0">
                <a:solidFill>
                  <a:srgbClr val="ECEEF6"/>
                </a:solidFill>
                <a:latin typeface="Segoe UI"/>
              </a:rPr>
              <a:t>Auto Data Engine — </a:t>
            </a:r>
            <a:r>
              <a:rPr sz="1350" b="0" i="0">
                <a:solidFill>
                  <a:srgbClr val="9AA4BC"/>
                </a:solidFill>
                <a:latin typeface="Segoe UI"/>
              </a:rPr>
              <a:t>clean, dedupe, type-infer, time-series detect</a:t>
            </a:r>
          </a:p>
          <a:p>
            <a:pPr>
              <a:lnSpc>
                <a:spcPct val="108000"/>
              </a:lnSpc>
              <a:spcAft>
                <a:spcPts val="1400"/>
              </a:spcAft>
            </a:pPr>
            <a:r>
              <a:rPr sz="1350" b="1" i="0">
                <a:solidFill>
                  <a:srgbClr val="6366F1"/>
                </a:solidFill>
                <a:latin typeface="Segoe UI"/>
              </a:rPr>
              <a:t>—  </a:t>
            </a:r>
            <a:r>
              <a:rPr sz="1350" b="1" i="0">
                <a:solidFill>
                  <a:srgbClr val="ECEEF6"/>
                </a:solidFill>
                <a:latin typeface="Segoe UI"/>
              </a:rPr>
              <a:t>Smart Intelligence — </a:t>
            </a:r>
            <a:r>
              <a:rPr sz="1350" b="0" i="0">
                <a:solidFill>
                  <a:srgbClr val="9AA4BC"/>
                </a:solidFill>
                <a:latin typeface="Segoe UI"/>
              </a:rPr>
              <a:t>auto-detects 10 domains with a confidence score</a:t>
            </a:r>
          </a:p>
          <a:p>
            <a:pPr>
              <a:lnSpc>
                <a:spcPct val="108000"/>
              </a:lnSpc>
              <a:spcAft>
                <a:spcPts val="1400"/>
              </a:spcAft>
            </a:pPr>
            <a:r>
              <a:rPr sz="1350" b="1" i="0">
                <a:solidFill>
                  <a:srgbClr val="6366F1"/>
                </a:solidFill>
                <a:latin typeface="Segoe UI"/>
              </a:rPr>
              <a:t>—  </a:t>
            </a:r>
            <a:r>
              <a:rPr sz="1350" b="1" i="0">
                <a:solidFill>
                  <a:srgbClr val="ECEEF6"/>
                </a:solidFill>
                <a:latin typeface="Segoe UI"/>
              </a:rPr>
              <a:t>Insight Filtering — </a:t>
            </a:r>
            <a:r>
              <a:rPr sz="1350" b="0" i="0">
                <a:solidFill>
                  <a:srgbClr val="9AA4BC"/>
                </a:solidFill>
                <a:latin typeface="Segoe UI"/>
              </a:rPr>
              <a:t>drops irrelevant framing (no 'profit' on healthcare)</a:t>
            </a:r>
          </a:p>
          <a:p>
            <a:pPr>
              <a:lnSpc>
                <a:spcPct val="108000"/>
              </a:lnSpc>
              <a:spcAft>
                <a:spcPts val="1400"/>
              </a:spcAft>
            </a:pPr>
            <a:r>
              <a:rPr sz="1350" b="1" i="0">
                <a:solidFill>
                  <a:srgbClr val="6366F1"/>
                </a:solidFill>
                <a:latin typeface="Segoe UI"/>
              </a:rPr>
              <a:t>—  </a:t>
            </a:r>
            <a:r>
              <a:rPr sz="1350" b="1" i="0">
                <a:solidFill>
                  <a:srgbClr val="ECEEF6"/>
                </a:solidFill>
                <a:latin typeface="Segoe UI"/>
              </a:rPr>
              <a:t>KPI Engine — </a:t>
            </a:r>
            <a:r>
              <a:rPr sz="1350" b="0" i="0">
                <a:solidFill>
                  <a:srgbClr val="9AA4BC"/>
                </a:solidFill>
                <a:latin typeface="Segoe UI"/>
              </a:rPr>
              <a:t>domain-aware metrics, currency/% formatting &amp; deltas</a:t>
            </a:r>
          </a:p>
          <a:p>
            <a:pPr>
              <a:lnSpc>
                <a:spcPct val="108000"/>
              </a:lnSpc>
              <a:spcAft>
                <a:spcPts val="1400"/>
              </a:spcAft>
            </a:pPr>
            <a:r>
              <a:rPr sz="1350" b="1" i="0">
                <a:solidFill>
                  <a:srgbClr val="6366F1"/>
                </a:solidFill>
                <a:latin typeface="Segoe UI"/>
              </a:rPr>
              <a:t>—  </a:t>
            </a:r>
            <a:r>
              <a:rPr sz="1350" b="1" i="0">
                <a:solidFill>
                  <a:srgbClr val="ECEEF6"/>
                </a:solidFill>
                <a:latin typeface="Segoe UI"/>
              </a:rPr>
              <a:t>BI-Grade Visuals — </a:t>
            </a:r>
            <a:r>
              <a:rPr sz="1350" b="0" i="0">
                <a:solidFill>
                  <a:srgbClr val="9AA4BC"/>
                </a:solidFill>
                <a:latin typeface="Segoe UI"/>
              </a:rPr>
              <a:t>Tableau / Power BI-quality interactive Plotly charts</a:t>
            </a:r>
          </a:p>
        </p:txBody>
      </p:sp>
      <p:sp>
        <p:nvSpPr>
          <p:cNvPr id="10" name="TextBox 9"/>
          <p:cNvSpPr txBox="1"/>
          <p:nvPr/>
        </p:nvSpPr>
        <p:spPr>
          <a:xfrm>
            <a:off x="6382512" y="2103120"/>
            <a:ext cx="5029200" cy="3657600"/>
          </a:xfrm>
          <a:prstGeom prst="rect">
            <a:avLst/>
          </a:prstGeom>
          <a:noFill/>
        </p:spPr>
        <p:txBody>
          <a:bodyPr wrap="square">
            <a:spAutoFit/>
          </a:bodyPr>
          <a:lstStyle/>
          <a:p>
            <a:pPr>
              <a:lnSpc>
                <a:spcPct val="108000"/>
              </a:lnSpc>
              <a:spcAft>
                <a:spcPts val="1400"/>
              </a:spcAft>
            </a:pPr>
            <a:r>
              <a:rPr sz="1350" b="1" i="0">
                <a:solidFill>
                  <a:srgbClr val="A855F7"/>
                </a:solidFill>
                <a:latin typeface="Segoe UI"/>
              </a:rPr>
              <a:t>—  </a:t>
            </a:r>
            <a:r>
              <a:rPr sz="1350" b="1" i="0">
                <a:solidFill>
                  <a:srgbClr val="ECEEF6"/>
                </a:solidFill>
                <a:latin typeface="Segoe UI"/>
              </a:rPr>
              <a:t>Interactive Dashboard — </a:t>
            </a:r>
            <a:r>
              <a:rPr sz="1350" b="0" i="0">
                <a:solidFill>
                  <a:srgbClr val="9AA4BC"/>
                </a:solidFill>
                <a:latin typeface="Segoe UI"/>
              </a:rPr>
              <a:t>KPI→chart cross-filter + one-screen Executive View</a:t>
            </a:r>
          </a:p>
          <a:p>
            <a:pPr>
              <a:lnSpc>
                <a:spcPct val="108000"/>
              </a:lnSpc>
              <a:spcAft>
                <a:spcPts val="1400"/>
              </a:spcAft>
            </a:pPr>
            <a:r>
              <a:rPr sz="1350" b="1" i="0">
                <a:solidFill>
                  <a:srgbClr val="A855F7"/>
                </a:solidFill>
                <a:latin typeface="Segoe UI"/>
              </a:rPr>
              <a:t>—  </a:t>
            </a:r>
            <a:r>
              <a:rPr sz="1350" b="1" i="0">
                <a:solidFill>
                  <a:srgbClr val="ECEEF6"/>
                </a:solidFill>
                <a:latin typeface="Segoe UI"/>
              </a:rPr>
              <a:t>AI Summary &amp; Story — </a:t>
            </a:r>
            <a:r>
              <a:rPr sz="1350" b="0" i="0">
                <a:solidFill>
                  <a:srgbClr val="9AA4BC"/>
                </a:solidFill>
                <a:latin typeface="Segoe UI"/>
              </a:rPr>
              <a:t>executive narrative + chart-by-chart storytelling</a:t>
            </a:r>
          </a:p>
          <a:p>
            <a:pPr>
              <a:lnSpc>
                <a:spcPct val="108000"/>
              </a:lnSpc>
              <a:spcAft>
                <a:spcPts val="1400"/>
              </a:spcAft>
            </a:pPr>
            <a:r>
              <a:rPr sz="1350" b="1" i="0">
                <a:solidFill>
                  <a:srgbClr val="A855F7"/>
                </a:solidFill>
                <a:latin typeface="Segoe UI"/>
              </a:rPr>
              <a:t>—  </a:t>
            </a:r>
            <a:r>
              <a:rPr sz="1350" b="1" i="0">
                <a:solidFill>
                  <a:srgbClr val="ECEEF6"/>
                </a:solidFill>
                <a:latin typeface="Segoe UI"/>
              </a:rPr>
              <a:t>Business Insights — </a:t>
            </a:r>
            <a:r>
              <a:rPr sz="1350" b="0" i="0">
                <a:solidFill>
                  <a:srgbClr val="9AA4BC"/>
                </a:solidFill>
                <a:latin typeface="Segoe UI"/>
              </a:rPr>
              <a:t>ranked findings, severity &amp; recommendations</a:t>
            </a:r>
          </a:p>
          <a:p>
            <a:pPr>
              <a:lnSpc>
                <a:spcPct val="108000"/>
              </a:lnSpc>
              <a:spcAft>
                <a:spcPts val="1400"/>
              </a:spcAft>
            </a:pPr>
            <a:r>
              <a:rPr sz="1350" b="1" i="0">
                <a:solidFill>
                  <a:srgbClr val="A855F7"/>
                </a:solidFill>
                <a:latin typeface="Segoe UI"/>
              </a:rPr>
              <a:t>—  </a:t>
            </a:r>
            <a:r>
              <a:rPr sz="1350" b="1" i="0">
                <a:solidFill>
                  <a:srgbClr val="ECEEF6"/>
                </a:solidFill>
                <a:latin typeface="Segoe UI"/>
              </a:rPr>
              <a:t>Data Copilot — </a:t>
            </a:r>
            <a:r>
              <a:rPr sz="1350" b="0" i="0">
                <a:solidFill>
                  <a:srgbClr val="9AA4BC"/>
                </a:solidFill>
                <a:latin typeface="Segoe UI"/>
              </a:rPr>
              <a:t>NL chat · NL→SQL (DuckDB) · light RAG insights</a:t>
            </a:r>
          </a:p>
          <a:p>
            <a:pPr>
              <a:lnSpc>
                <a:spcPct val="108000"/>
              </a:lnSpc>
              <a:spcAft>
                <a:spcPts val="1400"/>
              </a:spcAft>
            </a:pPr>
            <a:r>
              <a:rPr sz="1350" b="1" i="0">
                <a:solidFill>
                  <a:srgbClr val="A855F7"/>
                </a:solidFill>
                <a:latin typeface="Segoe UI"/>
              </a:rPr>
              <a:t>—  </a:t>
            </a:r>
            <a:r>
              <a:rPr sz="1350" b="1" i="0">
                <a:solidFill>
                  <a:srgbClr val="ECEEF6"/>
                </a:solidFill>
                <a:latin typeface="Segoe UI"/>
              </a:rPr>
              <a:t>Branded Export — </a:t>
            </a:r>
            <a:r>
              <a:rPr sz="1350" b="0" i="0">
                <a:solidFill>
                  <a:srgbClr val="9AA4BC"/>
                </a:solidFill>
                <a:latin typeface="Segoe UI"/>
              </a:rPr>
              <a:t>logo + palette → XLSX / PDF / PPTX reports</a:t>
            </a:r>
          </a:p>
        </p:txBody>
      </p:sp>
      <p:sp>
        <p:nvSpPr>
          <p:cNvPr id="11" name="Rectangle 10"/>
          <p:cNvSpPr/>
          <p:nvPr/>
        </p:nvSpPr>
        <p:spPr>
          <a:xfrm>
            <a:off x="548640" y="6419088"/>
            <a:ext cx="11091672" cy="12700"/>
          </a:xfrm>
          <a:prstGeom prst="rect">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55664"/>
            <a:ext cx="7315200" cy="274320"/>
          </a:xfrm>
          <a:prstGeom prst="rect">
            <a:avLst/>
          </a:prstGeom>
          <a:noFill/>
        </p:spPr>
        <p:txBody>
          <a:bodyPr wrap="square" anchor="t">
            <a:spAutoFit/>
          </a:bodyPr>
          <a:lstStyle/>
          <a:p>
            <a:pPr algn="l">
              <a:lnSpc>
                <a:spcPct val="105000"/>
              </a:lnSpc>
            </a:pPr>
            <a:r>
              <a:rPr sz="950" b="0" i="0">
                <a:solidFill>
                  <a:srgbClr val="6B7490"/>
                </a:solidFill>
                <a:latin typeface="Segoe UI"/>
              </a:rPr>
              <a:t>AI Data Reporting &amp; Analytics Assistant  ·  v3.0</a:t>
            </a:r>
          </a:p>
        </p:txBody>
      </p:sp>
      <p:sp>
        <p:nvSpPr>
          <p:cNvPr id="13" name="TextBox 12"/>
          <p:cNvSpPr txBox="1"/>
          <p:nvPr/>
        </p:nvSpPr>
        <p:spPr>
          <a:xfrm>
            <a:off x="10241280" y="6455664"/>
            <a:ext cx="1399032" cy="274320"/>
          </a:xfrm>
          <a:prstGeom prst="rect">
            <a:avLst/>
          </a:prstGeom>
          <a:noFill/>
        </p:spPr>
        <p:txBody>
          <a:bodyPr wrap="square" anchor="t">
            <a:spAutoFit/>
          </a:bodyPr>
          <a:lstStyle/>
          <a:p>
            <a:pPr algn="r">
              <a:lnSpc>
                <a:spcPct val="105000"/>
              </a:lnSpc>
            </a:pPr>
            <a:r>
              <a:rPr sz="950" b="0" i="0">
                <a:solidFill>
                  <a:srgbClr val="6B7490"/>
                </a:solidFill>
                <a:latin typeface="Consolas"/>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4063898" cy="731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3898" y="0"/>
            <a:ext cx="4063898" cy="7315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7796" y="0"/>
            <a:ext cx="4063898"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1064240" cy="822960"/>
          </a:xfrm>
          <a:prstGeom prst="rect">
            <a:avLst/>
          </a:prstGeom>
          <a:noFill/>
        </p:spPr>
        <p:txBody>
          <a:bodyPr wrap="square" anchor="t">
            <a:spAutoFit/>
          </a:bodyPr>
          <a:lstStyle/>
          <a:p>
            <a:pPr algn="l">
              <a:lnSpc>
                <a:spcPct val="105000"/>
              </a:lnSpc>
            </a:pPr>
            <a:r>
              <a:rPr sz="3300" b="1" i="0">
                <a:solidFill>
                  <a:srgbClr val="ECEEF6"/>
                </a:solidFill>
                <a:latin typeface="Segoe UI Semibold"/>
              </a:rPr>
              <a:t>Product Screenshots</a:t>
            </a:r>
          </a:p>
        </p:txBody>
      </p:sp>
      <p:sp>
        <p:nvSpPr>
          <p:cNvPr id="6" name="TextBox 5"/>
          <p:cNvSpPr txBox="1"/>
          <p:nvPr/>
        </p:nvSpPr>
        <p:spPr>
          <a:xfrm>
            <a:off x="566928" y="1207008"/>
            <a:ext cx="11064240" cy="457200"/>
          </a:xfrm>
          <a:prstGeom prst="rect">
            <a:avLst/>
          </a:prstGeom>
          <a:noFill/>
        </p:spPr>
        <p:txBody>
          <a:bodyPr wrap="square" anchor="t">
            <a:spAutoFit/>
          </a:bodyPr>
          <a:lstStyle/>
          <a:p>
            <a:pPr algn="l">
              <a:lnSpc>
                <a:spcPct val="105000"/>
              </a:lnSpc>
            </a:pPr>
            <a:r>
              <a:rPr sz="1450" b="0" i="0">
                <a:solidFill>
                  <a:srgbClr val="9AA4BC"/>
                </a:solidFill>
                <a:latin typeface="Segoe UI"/>
              </a:rPr>
              <a:t>Dark command-center UI — drop images into presentation/screenshots/</a:t>
            </a:r>
          </a:p>
        </p:txBody>
      </p:sp>
      <p:sp>
        <p:nvSpPr>
          <p:cNvPr id="7" name="Rounded Rectangle 6"/>
          <p:cNvSpPr/>
          <p:nvPr/>
        </p:nvSpPr>
        <p:spPr>
          <a:xfrm>
            <a:off x="548640" y="1828800"/>
            <a:ext cx="5440680" cy="2011680"/>
          </a:xfrm>
          <a:prstGeom prst="roundRect">
            <a:avLst>
              <a:gd name="adj" fmla="val 6000"/>
            </a:avLst>
          </a:prstGeom>
          <a:solidFill>
            <a:srgbClr val="151B2E"/>
          </a:solidFill>
          <a:ln w="15875">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400"/>
              </a:spcAft>
            </a:pPr>
            <a:r>
              <a:rPr sz="2600" b="0" i="0">
                <a:solidFill>
                  <a:srgbClr val="6B7490"/>
                </a:solidFill>
                <a:latin typeface="Segoe UI"/>
              </a:rPr>
              <a:t>🖼</a:t>
            </a:r>
          </a:p>
          <a:p>
            <a:pPr algn="ctr">
              <a:lnSpc>
                <a:spcPct val="100000"/>
              </a:lnSpc>
              <a:spcAft>
                <a:spcPts val="200"/>
              </a:spcAft>
            </a:pPr>
            <a:r>
              <a:rPr sz="1300" b="1" i="0">
                <a:solidFill>
                  <a:srgbClr val="9AA4BC"/>
                </a:solidFill>
                <a:latin typeface="Segoe UI"/>
              </a:rPr>
              <a:t>Screenshot placeholder</a:t>
            </a:r>
          </a:p>
          <a:p>
            <a:pPr algn="ctr">
              <a:lnSpc>
                <a:spcPct val="100000"/>
              </a:lnSpc>
            </a:pPr>
            <a:r>
              <a:rPr sz="1150" b="0" i="0">
                <a:solidFill>
                  <a:srgbClr val="6366F1"/>
                </a:solidFill>
                <a:latin typeface="Segoe UI"/>
              </a:rPr>
              <a:t>Dashboard — KPIs &amp; Charts</a:t>
            </a:r>
          </a:p>
        </p:txBody>
      </p:sp>
      <p:sp>
        <p:nvSpPr>
          <p:cNvPr id="8" name="Rounded Rectangle 7"/>
          <p:cNvSpPr/>
          <p:nvPr/>
        </p:nvSpPr>
        <p:spPr>
          <a:xfrm>
            <a:off x="6199632" y="1828800"/>
            <a:ext cx="5440680" cy="2011680"/>
          </a:xfrm>
          <a:prstGeom prst="roundRect">
            <a:avLst>
              <a:gd name="adj" fmla="val 6000"/>
            </a:avLst>
          </a:prstGeom>
          <a:solidFill>
            <a:srgbClr val="151B2E"/>
          </a:solidFill>
          <a:ln w="15875">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400"/>
              </a:spcAft>
            </a:pPr>
            <a:r>
              <a:rPr sz="2600" b="0" i="0">
                <a:solidFill>
                  <a:srgbClr val="6B7490"/>
                </a:solidFill>
                <a:latin typeface="Segoe UI"/>
              </a:rPr>
              <a:t>🖼</a:t>
            </a:r>
          </a:p>
          <a:p>
            <a:pPr algn="ctr">
              <a:lnSpc>
                <a:spcPct val="100000"/>
              </a:lnSpc>
              <a:spcAft>
                <a:spcPts val="200"/>
              </a:spcAft>
            </a:pPr>
            <a:r>
              <a:rPr sz="1300" b="1" i="0">
                <a:solidFill>
                  <a:srgbClr val="9AA4BC"/>
                </a:solidFill>
                <a:latin typeface="Segoe UI"/>
              </a:rPr>
              <a:t>Screenshot placeholder</a:t>
            </a:r>
          </a:p>
          <a:p>
            <a:pPr algn="ctr">
              <a:lnSpc>
                <a:spcPct val="100000"/>
              </a:lnSpc>
            </a:pPr>
            <a:r>
              <a:rPr sz="1150" b="0" i="0">
                <a:solidFill>
                  <a:srgbClr val="6366F1"/>
                </a:solidFill>
                <a:latin typeface="Segoe UI"/>
              </a:rPr>
              <a:t>Data Copilot — NL→SQL</a:t>
            </a:r>
          </a:p>
        </p:txBody>
      </p:sp>
      <p:sp>
        <p:nvSpPr>
          <p:cNvPr id="9" name="Rounded Rectangle 8"/>
          <p:cNvSpPr/>
          <p:nvPr/>
        </p:nvSpPr>
        <p:spPr>
          <a:xfrm>
            <a:off x="548640" y="4096512"/>
            <a:ext cx="5440680" cy="2011680"/>
          </a:xfrm>
          <a:prstGeom prst="roundRect">
            <a:avLst>
              <a:gd name="adj" fmla="val 6000"/>
            </a:avLst>
          </a:prstGeom>
          <a:solidFill>
            <a:srgbClr val="151B2E"/>
          </a:solidFill>
          <a:ln w="15875">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400"/>
              </a:spcAft>
            </a:pPr>
            <a:r>
              <a:rPr sz="2600" b="0" i="0">
                <a:solidFill>
                  <a:srgbClr val="6B7490"/>
                </a:solidFill>
                <a:latin typeface="Segoe UI"/>
              </a:rPr>
              <a:t>🖼</a:t>
            </a:r>
          </a:p>
          <a:p>
            <a:pPr algn="ctr">
              <a:lnSpc>
                <a:spcPct val="100000"/>
              </a:lnSpc>
              <a:spcAft>
                <a:spcPts val="200"/>
              </a:spcAft>
            </a:pPr>
            <a:r>
              <a:rPr sz="1300" b="1" i="0">
                <a:solidFill>
                  <a:srgbClr val="9AA4BC"/>
                </a:solidFill>
                <a:latin typeface="Segoe UI"/>
              </a:rPr>
              <a:t>Screenshot placeholder</a:t>
            </a:r>
          </a:p>
          <a:p>
            <a:pPr algn="ctr">
              <a:lnSpc>
                <a:spcPct val="100000"/>
              </a:lnSpc>
            </a:pPr>
            <a:r>
              <a:rPr sz="1150" b="0" i="0">
                <a:solidFill>
                  <a:srgbClr val="6366F1"/>
                </a:solidFill>
                <a:latin typeface="Segoe UI"/>
              </a:rPr>
              <a:t>Business Insights</a:t>
            </a:r>
          </a:p>
        </p:txBody>
      </p:sp>
      <p:sp>
        <p:nvSpPr>
          <p:cNvPr id="10" name="Rounded Rectangle 9"/>
          <p:cNvSpPr/>
          <p:nvPr/>
        </p:nvSpPr>
        <p:spPr>
          <a:xfrm>
            <a:off x="6199632" y="4096512"/>
            <a:ext cx="5440680" cy="2011680"/>
          </a:xfrm>
          <a:prstGeom prst="roundRect">
            <a:avLst>
              <a:gd name="adj" fmla="val 6000"/>
            </a:avLst>
          </a:prstGeom>
          <a:solidFill>
            <a:srgbClr val="151B2E"/>
          </a:solidFill>
          <a:ln w="15875">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400"/>
              </a:spcAft>
            </a:pPr>
            <a:r>
              <a:rPr sz="2600" b="0" i="0">
                <a:solidFill>
                  <a:srgbClr val="6B7490"/>
                </a:solidFill>
                <a:latin typeface="Segoe UI"/>
              </a:rPr>
              <a:t>🖼</a:t>
            </a:r>
          </a:p>
          <a:p>
            <a:pPr algn="ctr">
              <a:lnSpc>
                <a:spcPct val="100000"/>
              </a:lnSpc>
              <a:spcAft>
                <a:spcPts val="200"/>
              </a:spcAft>
            </a:pPr>
            <a:r>
              <a:rPr sz="1300" b="1" i="0">
                <a:solidFill>
                  <a:srgbClr val="9AA4BC"/>
                </a:solidFill>
                <a:latin typeface="Segoe UI"/>
              </a:rPr>
              <a:t>Screenshot placeholder</a:t>
            </a:r>
          </a:p>
          <a:p>
            <a:pPr algn="ctr">
              <a:lnSpc>
                <a:spcPct val="100000"/>
              </a:lnSpc>
            </a:pPr>
            <a:r>
              <a:rPr sz="1150" b="0" i="0">
                <a:solidFill>
                  <a:srgbClr val="6366F1"/>
                </a:solidFill>
                <a:latin typeface="Segoe UI"/>
              </a:rPr>
              <a:t>Branded Export</a:t>
            </a:r>
          </a:p>
        </p:txBody>
      </p:sp>
      <p:sp>
        <p:nvSpPr>
          <p:cNvPr id="11" name="Rectangle 10"/>
          <p:cNvSpPr/>
          <p:nvPr/>
        </p:nvSpPr>
        <p:spPr>
          <a:xfrm>
            <a:off x="548640" y="6419088"/>
            <a:ext cx="11091672" cy="12700"/>
          </a:xfrm>
          <a:prstGeom prst="rect">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55664"/>
            <a:ext cx="7315200" cy="274320"/>
          </a:xfrm>
          <a:prstGeom prst="rect">
            <a:avLst/>
          </a:prstGeom>
          <a:noFill/>
        </p:spPr>
        <p:txBody>
          <a:bodyPr wrap="square" anchor="t">
            <a:spAutoFit/>
          </a:bodyPr>
          <a:lstStyle/>
          <a:p>
            <a:pPr algn="l">
              <a:lnSpc>
                <a:spcPct val="105000"/>
              </a:lnSpc>
            </a:pPr>
            <a:r>
              <a:rPr sz="950" b="0" i="0">
                <a:solidFill>
                  <a:srgbClr val="6B7490"/>
                </a:solidFill>
                <a:latin typeface="Segoe UI"/>
              </a:rPr>
              <a:t>AI Data Reporting &amp; Analytics Assistant  ·  v3.0</a:t>
            </a:r>
          </a:p>
        </p:txBody>
      </p:sp>
      <p:sp>
        <p:nvSpPr>
          <p:cNvPr id="13" name="TextBox 12"/>
          <p:cNvSpPr txBox="1"/>
          <p:nvPr/>
        </p:nvSpPr>
        <p:spPr>
          <a:xfrm>
            <a:off x="10241280" y="6455664"/>
            <a:ext cx="1399032" cy="274320"/>
          </a:xfrm>
          <a:prstGeom prst="rect">
            <a:avLst/>
          </a:prstGeom>
          <a:noFill/>
        </p:spPr>
        <p:txBody>
          <a:bodyPr wrap="square" anchor="t">
            <a:spAutoFit/>
          </a:bodyPr>
          <a:lstStyle/>
          <a:p>
            <a:pPr algn="r">
              <a:lnSpc>
                <a:spcPct val="105000"/>
              </a:lnSpc>
            </a:pPr>
            <a:r>
              <a:rPr sz="950" b="0" i="0">
                <a:solidFill>
                  <a:srgbClr val="6B7490"/>
                </a:solidFill>
                <a:latin typeface="Consolas"/>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4063898" cy="731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3898" y="0"/>
            <a:ext cx="4063898" cy="7315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7796" y="0"/>
            <a:ext cx="4063898"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1064240" cy="822960"/>
          </a:xfrm>
          <a:prstGeom prst="rect">
            <a:avLst/>
          </a:prstGeom>
          <a:noFill/>
        </p:spPr>
        <p:txBody>
          <a:bodyPr wrap="square" anchor="t">
            <a:spAutoFit/>
          </a:bodyPr>
          <a:lstStyle/>
          <a:p>
            <a:pPr algn="l">
              <a:lnSpc>
                <a:spcPct val="105000"/>
              </a:lnSpc>
            </a:pPr>
            <a:r>
              <a:rPr sz="3300" b="1" i="0">
                <a:solidFill>
                  <a:srgbClr val="ECEEF6"/>
                </a:solidFill>
                <a:latin typeface="Segoe UI Semibold"/>
              </a:rPr>
              <a:t>Results &amp; Demo</a:t>
            </a:r>
          </a:p>
        </p:txBody>
      </p:sp>
      <p:sp>
        <p:nvSpPr>
          <p:cNvPr id="6" name="TextBox 5"/>
          <p:cNvSpPr txBox="1"/>
          <p:nvPr/>
        </p:nvSpPr>
        <p:spPr>
          <a:xfrm>
            <a:off x="566928" y="1207008"/>
            <a:ext cx="11064240" cy="457200"/>
          </a:xfrm>
          <a:prstGeom prst="rect">
            <a:avLst/>
          </a:prstGeom>
          <a:noFill/>
        </p:spPr>
        <p:txBody>
          <a:bodyPr wrap="square" anchor="t">
            <a:spAutoFit/>
          </a:bodyPr>
          <a:lstStyle/>
          <a:p>
            <a:pPr algn="l">
              <a:lnSpc>
                <a:spcPct val="105000"/>
              </a:lnSpc>
            </a:pPr>
            <a:r>
              <a:rPr sz="1450" b="0" i="0">
                <a:solidFill>
                  <a:srgbClr val="9AA4BC"/>
                </a:solidFill>
                <a:latin typeface="Segoe UI"/>
              </a:rPr>
              <a:t>What the user gets back — in seconds</a:t>
            </a:r>
          </a:p>
        </p:txBody>
      </p:sp>
      <p:sp>
        <p:nvSpPr>
          <p:cNvPr id="7" name="Rounded Rectangle 6"/>
          <p:cNvSpPr/>
          <p:nvPr/>
        </p:nvSpPr>
        <p:spPr>
          <a:xfrm>
            <a:off x="548640" y="1828800"/>
            <a:ext cx="2697480" cy="137160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3000" b="1" i="0">
                <a:solidFill>
                  <a:srgbClr val="6366F1"/>
                </a:solidFill>
                <a:latin typeface="Consolas"/>
              </a:rPr>
              <a:t>Seconds</a:t>
            </a:r>
          </a:p>
          <a:p>
            <a:pPr algn="ctr">
              <a:lnSpc>
                <a:spcPct val="110000"/>
              </a:lnSpc>
            </a:pPr>
            <a:r>
              <a:rPr sz="1100" b="0" i="0">
                <a:solidFill>
                  <a:srgbClr val="9AA4BC"/>
                </a:solidFill>
                <a:latin typeface="Segoe UI"/>
              </a:rPr>
              <a:t>to first dashboard</a:t>
            </a:r>
          </a:p>
        </p:txBody>
      </p:sp>
      <p:sp>
        <p:nvSpPr>
          <p:cNvPr id="8" name="Rounded Rectangle 7"/>
          <p:cNvSpPr/>
          <p:nvPr/>
        </p:nvSpPr>
        <p:spPr>
          <a:xfrm>
            <a:off x="3410712" y="1828800"/>
            <a:ext cx="2697480" cy="137160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3000" b="1" i="0">
                <a:solidFill>
                  <a:srgbClr val="38BDF8"/>
                </a:solidFill>
                <a:latin typeface="Consolas"/>
              </a:rPr>
              <a:t>10</a:t>
            </a:r>
          </a:p>
          <a:p>
            <a:pPr algn="ctr">
              <a:lnSpc>
                <a:spcPct val="110000"/>
              </a:lnSpc>
            </a:pPr>
            <a:r>
              <a:rPr sz="1100" b="0" i="0">
                <a:solidFill>
                  <a:srgbClr val="9AA4BC"/>
                </a:solidFill>
                <a:latin typeface="Segoe UI"/>
              </a:rPr>
              <a:t>business domains supported</a:t>
            </a:r>
          </a:p>
        </p:txBody>
      </p:sp>
      <p:sp>
        <p:nvSpPr>
          <p:cNvPr id="9" name="Rounded Rectangle 8"/>
          <p:cNvSpPr/>
          <p:nvPr/>
        </p:nvSpPr>
        <p:spPr>
          <a:xfrm>
            <a:off x="6272784" y="1828800"/>
            <a:ext cx="2697480" cy="137160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3000" b="1" i="0">
                <a:solidFill>
                  <a:srgbClr val="A855F7"/>
                </a:solidFill>
                <a:latin typeface="Consolas"/>
              </a:rPr>
              <a:t>3</a:t>
            </a:r>
          </a:p>
          <a:p>
            <a:pPr algn="ctr">
              <a:lnSpc>
                <a:spcPct val="110000"/>
              </a:lnSpc>
            </a:pPr>
            <a:r>
              <a:rPr sz="1100" b="0" i="0">
                <a:solidFill>
                  <a:srgbClr val="9AA4BC"/>
                </a:solidFill>
                <a:latin typeface="Segoe UI"/>
              </a:rPr>
              <a:t>export formats (XLSX/PDF/PPTX)</a:t>
            </a:r>
          </a:p>
        </p:txBody>
      </p:sp>
      <p:sp>
        <p:nvSpPr>
          <p:cNvPr id="10" name="Rounded Rectangle 9"/>
          <p:cNvSpPr/>
          <p:nvPr/>
        </p:nvSpPr>
        <p:spPr>
          <a:xfrm>
            <a:off x="9134856" y="1828800"/>
            <a:ext cx="2697480" cy="137160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Aft>
                <a:spcPts val="200"/>
              </a:spcAft>
            </a:pPr>
            <a:r>
              <a:rPr sz="3000" b="1" i="0">
                <a:solidFill>
                  <a:srgbClr val="34D399"/>
                </a:solidFill>
                <a:latin typeface="Consolas"/>
              </a:rPr>
              <a:t>0</a:t>
            </a:r>
          </a:p>
          <a:p>
            <a:pPr algn="ctr">
              <a:lnSpc>
                <a:spcPct val="110000"/>
              </a:lnSpc>
            </a:pPr>
            <a:r>
              <a:rPr sz="1100" b="0" i="0">
                <a:solidFill>
                  <a:srgbClr val="9AA4BC"/>
                </a:solidFill>
                <a:latin typeface="Segoe UI"/>
              </a:rPr>
              <a:t>API key required to run</a:t>
            </a:r>
          </a:p>
        </p:txBody>
      </p:sp>
      <p:sp>
        <p:nvSpPr>
          <p:cNvPr id="11" name="Rounded Rectangle 10"/>
          <p:cNvSpPr/>
          <p:nvPr/>
        </p:nvSpPr>
        <p:spPr>
          <a:xfrm>
            <a:off x="548640" y="3520440"/>
            <a:ext cx="11091672" cy="2468880"/>
          </a:xfrm>
          <a:prstGeom prst="roundRect">
            <a:avLst>
              <a:gd name="adj" fmla="val 6000"/>
            </a:avLst>
          </a:prstGeom>
          <a:solidFill>
            <a:srgbClr val="1B233A"/>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lnSpc>
                <a:spcPct val="100000"/>
              </a:lnSpc>
              <a:spcAft>
                <a:spcPts val="800"/>
              </a:spcAft>
            </a:pPr>
            <a:r>
              <a:rPr sz="1500" b="1" i="0">
                <a:solidFill>
                  <a:srgbClr val="38BDF8"/>
                </a:solidFill>
                <a:latin typeface="Segoe UI"/>
              </a:rPr>
              <a:t>Demo walkthrough</a:t>
            </a:r>
          </a:p>
          <a:p>
            <a:pPr algn="l">
              <a:lnSpc>
                <a:spcPct val="130000"/>
              </a:lnSpc>
              <a:spcAft>
                <a:spcPts val="400"/>
              </a:spcAft>
            </a:pPr>
            <a:r>
              <a:rPr sz="1300" b="0" i="0">
                <a:solidFill>
                  <a:srgbClr val="ECEEF6"/>
                </a:solidFill>
                <a:latin typeface="Segoe UI"/>
              </a:rPr>
              <a:t>1.  Upload a sales / healthcare / finance CSV  →  data is cleaned &amp; domain auto-detected.</a:t>
            </a:r>
          </a:p>
          <a:p>
            <a:pPr algn="l">
              <a:lnSpc>
                <a:spcPct val="130000"/>
              </a:lnSpc>
              <a:spcAft>
                <a:spcPts val="400"/>
              </a:spcAft>
            </a:pPr>
            <a:r>
              <a:rPr sz="1300" b="0" i="0">
                <a:solidFill>
                  <a:srgbClr val="ECEEF6"/>
                </a:solidFill>
                <a:latin typeface="Segoe UI"/>
              </a:rPr>
              <a:t>2.  Dashboard renders KPI cards, BI-grade charts &amp; a quality score — click a KPI to cross-filter, or flip to Executive View.</a:t>
            </a:r>
          </a:p>
          <a:p>
            <a:pPr algn="l">
              <a:lnSpc>
                <a:spcPct val="130000"/>
              </a:lnSpc>
              <a:spcAft>
                <a:spcPts val="400"/>
              </a:spcAft>
            </a:pPr>
            <a:r>
              <a:rPr sz="1300" b="0" i="0">
                <a:solidFill>
                  <a:srgbClr val="ECEEF6"/>
                </a:solidFill>
                <a:latin typeface="Segoe UI"/>
              </a:rPr>
              <a:t>3.  Open Data Story / Insights  →  AI explains what's happening, why, and what to do.</a:t>
            </a:r>
          </a:p>
          <a:p>
            <a:pPr algn="l">
              <a:lnSpc>
                <a:spcPct val="130000"/>
              </a:lnSpc>
              <a:spcAft>
                <a:spcPts val="400"/>
              </a:spcAft>
            </a:pPr>
            <a:r>
              <a:rPr sz="1300" b="0" i="0">
                <a:solidFill>
                  <a:srgbClr val="ECEEF6"/>
                </a:solidFill>
                <a:latin typeface="Segoe UI"/>
              </a:rPr>
              <a:t>4.  Ask in the Copilot: "top 5 regions by revenue"  →  NL→SQL runs on DuckDB &amp; returns a table.</a:t>
            </a:r>
          </a:p>
          <a:p>
            <a:pPr algn="l">
              <a:lnSpc>
                <a:spcPct val="130000"/>
              </a:lnSpc>
            </a:pPr>
            <a:r>
              <a:rPr sz="1300" b="0" i="0">
                <a:solidFill>
                  <a:srgbClr val="ECEEF6"/>
                </a:solidFill>
                <a:latin typeface="Segoe UI"/>
              </a:rPr>
              <a:t>5.  Export  →  a branded PDF / PPTX / Excel report with your logo and palette.</a:t>
            </a:r>
          </a:p>
        </p:txBody>
      </p:sp>
      <p:sp>
        <p:nvSpPr>
          <p:cNvPr id="12" name="Rectangle 11"/>
          <p:cNvSpPr/>
          <p:nvPr/>
        </p:nvSpPr>
        <p:spPr>
          <a:xfrm>
            <a:off x="548640" y="6419088"/>
            <a:ext cx="11091672" cy="12700"/>
          </a:xfrm>
          <a:prstGeom prst="rect">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455664"/>
            <a:ext cx="7315200" cy="274320"/>
          </a:xfrm>
          <a:prstGeom prst="rect">
            <a:avLst/>
          </a:prstGeom>
          <a:noFill/>
        </p:spPr>
        <p:txBody>
          <a:bodyPr wrap="square" anchor="t">
            <a:spAutoFit/>
          </a:bodyPr>
          <a:lstStyle/>
          <a:p>
            <a:pPr algn="l">
              <a:lnSpc>
                <a:spcPct val="105000"/>
              </a:lnSpc>
            </a:pPr>
            <a:r>
              <a:rPr sz="950" b="0" i="0">
                <a:solidFill>
                  <a:srgbClr val="6B7490"/>
                </a:solidFill>
                <a:latin typeface="Segoe UI"/>
              </a:rPr>
              <a:t>AI Data Reporting &amp; Analytics Assistant  ·  v3.0</a:t>
            </a:r>
          </a:p>
        </p:txBody>
      </p:sp>
      <p:sp>
        <p:nvSpPr>
          <p:cNvPr id="14" name="TextBox 13"/>
          <p:cNvSpPr txBox="1"/>
          <p:nvPr/>
        </p:nvSpPr>
        <p:spPr>
          <a:xfrm>
            <a:off x="10241280" y="6455664"/>
            <a:ext cx="1399032" cy="274320"/>
          </a:xfrm>
          <a:prstGeom prst="rect">
            <a:avLst/>
          </a:prstGeom>
          <a:noFill/>
        </p:spPr>
        <p:txBody>
          <a:bodyPr wrap="square" anchor="t">
            <a:spAutoFit/>
          </a:bodyPr>
          <a:lstStyle/>
          <a:p>
            <a:pPr algn="r">
              <a:lnSpc>
                <a:spcPct val="105000"/>
              </a:lnSpc>
            </a:pPr>
            <a:r>
              <a:rPr sz="950" b="0" i="0">
                <a:solidFill>
                  <a:srgbClr val="6B7490"/>
                </a:solidFill>
                <a:latin typeface="Consolas"/>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4063898" cy="731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3898" y="0"/>
            <a:ext cx="4063898" cy="7315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7796" y="0"/>
            <a:ext cx="4063898"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1064240" cy="822960"/>
          </a:xfrm>
          <a:prstGeom prst="rect">
            <a:avLst/>
          </a:prstGeom>
          <a:noFill/>
        </p:spPr>
        <p:txBody>
          <a:bodyPr wrap="square" anchor="t">
            <a:spAutoFit/>
          </a:bodyPr>
          <a:lstStyle/>
          <a:p>
            <a:pPr algn="l">
              <a:lnSpc>
                <a:spcPct val="105000"/>
              </a:lnSpc>
            </a:pPr>
            <a:r>
              <a:rPr sz="3300" b="1" i="0">
                <a:solidFill>
                  <a:srgbClr val="ECEEF6"/>
                </a:solidFill>
                <a:latin typeface="Segoe UI Semibold"/>
              </a:rPr>
              <a:t>Scalability &amp; Future Improvements</a:t>
            </a:r>
          </a:p>
        </p:txBody>
      </p:sp>
      <p:sp>
        <p:nvSpPr>
          <p:cNvPr id="6" name="TextBox 5"/>
          <p:cNvSpPr txBox="1"/>
          <p:nvPr/>
        </p:nvSpPr>
        <p:spPr>
          <a:xfrm>
            <a:off x="566928" y="1207008"/>
            <a:ext cx="11064240" cy="457200"/>
          </a:xfrm>
          <a:prstGeom prst="rect">
            <a:avLst/>
          </a:prstGeom>
          <a:noFill/>
        </p:spPr>
        <p:txBody>
          <a:bodyPr wrap="square" anchor="t">
            <a:spAutoFit/>
          </a:bodyPr>
          <a:lstStyle/>
          <a:p>
            <a:pPr algn="l">
              <a:lnSpc>
                <a:spcPct val="105000"/>
              </a:lnSpc>
            </a:pPr>
            <a:r>
              <a:rPr sz="1450" b="0" i="0">
                <a:solidFill>
                  <a:srgbClr val="9AA4BC"/>
                </a:solidFill>
                <a:latin typeface="Segoe UI"/>
              </a:rPr>
              <a:t>A roadmap already scoped in the codebase (ROADMAP_V4)</a:t>
            </a:r>
          </a:p>
        </p:txBody>
      </p:sp>
      <p:sp>
        <p:nvSpPr>
          <p:cNvPr id="7" name="Rounded Rectangle 6"/>
          <p:cNvSpPr/>
          <p:nvPr/>
        </p:nvSpPr>
        <p:spPr>
          <a:xfrm>
            <a:off x="548640" y="1874519"/>
            <a:ext cx="3584448" cy="402336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874519"/>
            <a:ext cx="3584448" cy="457200"/>
          </a:xfrm>
          <a:prstGeom prst="roundRect">
            <a:avLst>
              <a:gd name="adj" fmla="val 12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50" b="1" i="0">
                <a:solidFill>
                  <a:srgbClr val="FFFFFF"/>
                </a:solidFill>
                <a:latin typeface="Segoe UI"/>
              </a:rPr>
              <a:t>Predictive Intelligence</a:t>
            </a:r>
          </a:p>
        </p:txBody>
      </p:sp>
      <p:sp>
        <p:nvSpPr>
          <p:cNvPr id="9" name="TextBox 8"/>
          <p:cNvSpPr txBox="1"/>
          <p:nvPr/>
        </p:nvSpPr>
        <p:spPr>
          <a:xfrm>
            <a:off x="731520" y="2560319"/>
            <a:ext cx="3218688" cy="3200400"/>
          </a:xfrm>
          <a:prstGeom prst="rect">
            <a:avLst/>
          </a:prstGeom>
          <a:noFill/>
        </p:spPr>
        <p:txBody>
          <a:bodyPr wrap="square">
            <a:spAutoFit/>
          </a:bodyPr>
          <a:lstStyle/>
          <a:p>
            <a:pPr>
              <a:lnSpc>
                <a:spcPct val="125000"/>
              </a:lnSpc>
              <a:spcAft>
                <a:spcPts val="900"/>
              </a:spcAft>
            </a:pPr>
            <a:r>
              <a:rPr sz="1250" b="0" i="0">
                <a:solidFill>
                  <a:srgbClr val="ECEEF6"/>
                </a:solidFill>
                <a:latin typeface="Segoe UI"/>
              </a:rPr>
              <a:t>•  ARIMA / Prophet forecasting + confidence bands</a:t>
            </a:r>
          </a:p>
          <a:p>
            <a:pPr>
              <a:lnSpc>
                <a:spcPct val="125000"/>
              </a:lnSpc>
              <a:spcAft>
                <a:spcPts val="900"/>
              </a:spcAft>
            </a:pPr>
            <a:r>
              <a:rPr sz="1250" b="0" i="0">
                <a:solidFill>
                  <a:srgbClr val="ECEEF6"/>
                </a:solidFill>
                <a:latin typeface="Segoe UI"/>
              </a:rPr>
              <a:t>•  Churn prediction &amp; customer segmentation</a:t>
            </a:r>
          </a:p>
          <a:p>
            <a:pPr>
              <a:lnSpc>
                <a:spcPct val="125000"/>
              </a:lnSpc>
              <a:spcAft>
                <a:spcPts val="900"/>
              </a:spcAft>
            </a:pPr>
            <a:r>
              <a:rPr sz="1250" b="0" i="0">
                <a:solidFill>
                  <a:srgbClr val="ECEEF6"/>
                </a:solidFill>
                <a:latin typeface="Segoe UI"/>
              </a:rPr>
              <a:t>•  What-if scenario &amp; sensitivity modeling</a:t>
            </a:r>
          </a:p>
        </p:txBody>
      </p:sp>
      <p:sp>
        <p:nvSpPr>
          <p:cNvPr id="10" name="Rounded Rectangle 9"/>
          <p:cNvSpPr/>
          <p:nvPr/>
        </p:nvSpPr>
        <p:spPr>
          <a:xfrm>
            <a:off x="4297680" y="1874519"/>
            <a:ext cx="3584448" cy="402336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97680" y="1874519"/>
            <a:ext cx="3584448" cy="457200"/>
          </a:xfrm>
          <a:prstGeom prst="roundRect">
            <a:avLst>
              <a:gd name="adj" fmla="val 12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50" b="1" i="0">
                <a:solidFill>
                  <a:srgbClr val="FFFFFF"/>
                </a:solidFill>
                <a:latin typeface="Segoe UI"/>
              </a:rPr>
              <a:t>Exploration &amp; Depth</a:t>
            </a:r>
          </a:p>
        </p:txBody>
      </p:sp>
      <p:sp>
        <p:nvSpPr>
          <p:cNvPr id="12" name="TextBox 11"/>
          <p:cNvSpPr txBox="1"/>
          <p:nvPr/>
        </p:nvSpPr>
        <p:spPr>
          <a:xfrm>
            <a:off x="4480560" y="2560319"/>
            <a:ext cx="3218688" cy="3200400"/>
          </a:xfrm>
          <a:prstGeom prst="rect">
            <a:avLst/>
          </a:prstGeom>
          <a:noFill/>
        </p:spPr>
        <p:txBody>
          <a:bodyPr wrap="square">
            <a:spAutoFit/>
          </a:bodyPr>
          <a:lstStyle/>
          <a:p>
            <a:pPr>
              <a:lnSpc>
                <a:spcPct val="125000"/>
              </a:lnSpc>
              <a:spcAft>
                <a:spcPts val="900"/>
              </a:spcAft>
            </a:pPr>
            <a:r>
              <a:rPr sz="1250" b="0" i="0">
                <a:solidFill>
                  <a:srgbClr val="ECEEF6"/>
                </a:solidFill>
                <a:latin typeface="Segoe UI"/>
              </a:rPr>
              <a:t>•  Interactive chart drill-down to rows</a:t>
            </a:r>
          </a:p>
          <a:p>
            <a:pPr>
              <a:lnSpc>
                <a:spcPct val="125000"/>
              </a:lnSpc>
              <a:spcAft>
                <a:spcPts val="900"/>
              </a:spcAft>
            </a:pPr>
            <a:r>
              <a:rPr sz="1250" b="0" i="0">
                <a:solidFill>
                  <a:srgbClr val="ECEEF6"/>
                </a:solidFill>
                <a:latin typeface="Segoe UI"/>
              </a:rPr>
              <a:t>•  Cohort analysis &amp; retention curves</a:t>
            </a:r>
          </a:p>
          <a:p>
            <a:pPr>
              <a:lnSpc>
                <a:spcPct val="125000"/>
              </a:lnSpc>
              <a:spcAft>
                <a:spcPts val="900"/>
              </a:spcAft>
            </a:pPr>
            <a:r>
              <a:rPr sz="1250" b="0" i="0">
                <a:solidFill>
                  <a:srgbClr val="ECEEF6"/>
                </a:solidFill>
                <a:latin typeface="Segoe UI"/>
              </a:rPr>
              <a:t>•  Pivot tables &amp; custom metric builder</a:t>
            </a:r>
          </a:p>
        </p:txBody>
      </p:sp>
      <p:sp>
        <p:nvSpPr>
          <p:cNvPr id="13" name="Rounded Rectangle 12"/>
          <p:cNvSpPr/>
          <p:nvPr/>
        </p:nvSpPr>
        <p:spPr>
          <a:xfrm>
            <a:off x="8046720" y="1874519"/>
            <a:ext cx="3584448" cy="402336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1874519"/>
            <a:ext cx="3584448" cy="457200"/>
          </a:xfrm>
          <a:prstGeom prst="roundRect">
            <a:avLst>
              <a:gd name="adj" fmla="val 12000"/>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50" b="1" i="0">
                <a:solidFill>
                  <a:srgbClr val="FFFFFF"/>
                </a:solidFill>
                <a:latin typeface="Segoe UI"/>
              </a:rPr>
              <a:t>Scale &amp; Collaboration</a:t>
            </a:r>
          </a:p>
        </p:txBody>
      </p:sp>
      <p:sp>
        <p:nvSpPr>
          <p:cNvPr id="15" name="TextBox 14"/>
          <p:cNvSpPr txBox="1"/>
          <p:nvPr/>
        </p:nvSpPr>
        <p:spPr>
          <a:xfrm>
            <a:off x="8229600" y="2560319"/>
            <a:ext cx="3218688" cy="3200400"/>
          </a:xfrm>
          <a:prstGeom prst="rect">
            <a:avLst/>
          </a:prstGeom>
          <a:noFill/>
        </p:spPr>
        <p:txBody>
          <a:bodyPr wrap="square">
            <a:spAutoFit/>
          </a:bodyPr>
          <a:lstStyle/>
          <a:p>
            <a:pPr>
              <a:lnSpc>
                <a:spcPct val="125000"/>
              </a:lnSpc>
              <a:spcAft>
                <a:spcPts val="900"/>
              </a:spcAft>
            </a:pPr>
            <a:r>
              <a:rPr sz="1250" b="0" i="0">
                <a:solidFill>
                  <a:srgbClr val="ECEEF6"/>
                </a:solidFill>
                <a:latin typeface="Segoe UI"/>
              </a:rPr>
              <a:t>•  Auth, multi-user workspaces &amp; sharing</a:t>
            </a:r>
          </a:p>
          <a:p>
            <a:pPr>
              <a:lnSpc>
                <a:spcPct val="125000"/>
              </a:lnSpc>
              <a:spcAft>
                <a:spcPts val="900"/>
              </a:spcAft>
            </a:pPr>
            <a:r>
              <a:rPr sz="1250" b="0" i="0">
                <a:solidFill>
                  <a:srgbClr val="ECEEF6"/>
                </a:solidFill>
                <a:latin typeface="Segoe UI"/>
              </a:rPr>
              <a:t>•  Scheduled email / HTML / Power BI export</a:t>
            </a:r>
          </a:p>
          <a:p>
            <a:pPr>
              <a:lnSpc>
                <a:spcPct val="125000"/>
              </a:lnSpc>
              <a:spcAft>
                <a:spcPts val="900"/>
              </a:spcAft>
            </a:pPr>
            <a:r>
              <a:rPr sz="1250" b="0" i="0">
                <a:solidFill>
                  <a:srgbClr val="ECEEF6"/>
                </a:solidFill>
                <a:latin typeface="Segoe UI"/>
              </a:rPr>
              <a:t>•  Vector-DB &amp; warehouse backends, async LLM</a:t>
            </a:r>
          </a:p>
        </p:txBody>
      </p:sp>
      <p:sp>
        <p:nvSpPr>
          <p:cNvPr id="16" name="Rectangle 15"/>
          <p:cNvSpPr/>
          <p:nvPr/>
        </p:nvSpPr>
        <p:spPr>
          <a:xfrm>
            <a:off x="548640" y="6419088"/>
            <a:ext cx="11091672" cy="12700"/>
          </a:xfrm>
          <a:prstGeom prst="rect">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6455664"/>
            <a:ext cx="7315200" cy="274320"/>
          </a:xfrm>
          <a:prstGeom prst="rect">
            <a:avLst/>
          </a:prstGeom>
          <a:noFill/>
        </p:spPr>
        <p:txBody>
          <a:bodyPr wrap="square" anchor="t">
            <a:spAutoFit/>
          </a:bodyPr>
          <a:lstStyle/>
          <a:p>
            <a:pPr algn="l">
              <a:lnSpc>
                <a:spcPct val="105000"/>
              </a:lnSpc>
            </a:pPr>
            <a:r>
              <a:rPr sz="950" b="0" i="0">
                <a:solidFill>
                  <a:srgbClr val="6B7490"/>
                </a:solidFill>
                <a:latin typeface="Segoe UI"/>
              </a:rPr>
              <a:t>AI Data Reporting &amp; Analytics Assistant  ·  v3.0</a:t>
            </a:r>
          </a:p>
        </p:txBody>
      </p:sp>
      <p:sp>
        <p:nvSpPr>
          <p:cNvPr id="18" name="TextBox 17"/>
          <p:cNvSpPr txBox="1"/>
          <p:nvPr/>
        </p:nvSpPr>
        <p:spPr>
          <a:xfrm>
            <a:off x="10241280" y="6455664"/>
            <a:ext cx="1399032" cy="274320"/>
          </a:xfrm>
          <a:prstGeom prst="rect">
            <a:avLst/>
          </a:prstGeom>
          <a:noFill/>
        </p:spPr>
        <p:txBody>
          <a:bodyPr wrap="square" anchor="t">
            <a:spAutoFit/>
          </a:bodyPr>
          <a:lstStyle/>
          <a:p>
            <a:pPr algn="r">
              <a:lnSpc>
                <a:spcPct val="105000"/>
              </a:lnSpc>
            </a:pPr>
            <a:r>
              <a:rPr sz="950" b="0" i="0">
                <a:solidFill>
                  <a:srgbClr val="6B7490"/>
                </a:solidFill>
                <a:latin typeface="Consolas"/>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4063898" cy="731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3898" y="0"/>
            <a:ext cx="4063898" cy="7315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7796" y="0"/>
            <a:ext cx="4063898"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1064240" cy="822960"/>
          </a:xfrm>
          <a:prstGeom prst="rect">
            <a:avLst/>
          </a:prstGeom>
          <a:noFill/>
        </p:spPr>
        <p:txBody>
          <a:bodyPr wrap="square" anchor="t">
            <a:spAutoFit/>
          </a:bodyPr>
          <a:lstStyle/>
          <a:p>
            <a:pPr algn="l">
              <a:lnSpc>
                <a:spcPct val="105000"/>
              </a:lnSpc>
            </a:pPr>
            <a:r>
              <a:rPr sz="3300" b="1" i="0">
                <a:solidFill>
                  <a:srgbClr val="ECEEF6"/>
                </a:solidFill>
                <a:latin typeface="Segoe UI Semibold"/>
              </a:rPr>
              <a:t>Business, Client &amp; Portfolio Value</a:t>
            </a:r>
          </a:p>
        </p:txBody>
      </p:sp>
      <p:sp>
        <p:nvSpPr>
          <p:cNvPr id="6" name="TextBox 5"/>
          <p:cNvSpPr txBox="1"/>
          <p:nvPr/>
        </p:nvSpPr>
        <p:spPr>
          <a:xfrm>
            <a:off x="566928" y="1207008"/>
            <a:ext cx="11064240" cy="457200"/>
          </a:xfrm>
          <a:prstGeom prst="rect">
            <a:avLst/>
          </a:prstGeom>
          <a:noFill/>
        </p:spPr>
        <p:txBody>
          <a:bodyPr wrap="square" anchor="t">
            <a:spAutoFit/>
          </a:bodyPr>
          <a:lstStyle/>
          <a:p>
            <a:pPr algn="l">
              <a:lnSpc>
                <a:spcPct val="105000"/>
              </a:lnSpc>
            </a:pPr>
            <a:r>
              <a:rPr sz="1450" b="0" i="0">
                <a:solidFill>
                  <a:srgbClr val="9AA4BC"/>
                </a:solidFill>
                <a:latin typeface="Segoe UI"/>
              </a:rPr>
              <a:t>Why it matters to each audience</a:t>
            </a:r>
          </a:p>
        </p:txBody>
      </p:sp>
      <p:sp>
        <p:nvSpPr>
          <p:cNvPr id="7" name="Rounded Rectangle 6"/>
          <p:cNvSpPr/>
          <p:nvPr/>
        </p:nvSpPr>
        <p:spPr>
          <a:xfrm>
            <a:off x="548640" y="1874519"/>
            <a:ext cx="3584448" cy="402336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l">
              <a:lnSpc>
                <a:spcPct val="100000"/>
              </a:lnSpc>
              <a:spcAft>
                <a:spcPts val="600"/>
              </a:spcAft>
            </a:pPr>
            <a:r>
              <a:rPr sz="2600" b="0" i="0">
                <a:solidFill>
                  <a:srgbClr val="6366F1"/>
                </a:solidFill>
                <a:latin typeface="Segoe UI"/>
              </a:rPr>
              <a:t>🏢</a:t>
            </a:r>
          </a:p>
          <a:p>
            <a:pPr algn="l">
              <a:lnSpc>
                <a:spcPct val="100000"/>
              </a:lnSpc>
              <a:spcAft>
                <a:spcPts val="1000"/>
              </a:spcAft>
            </a:pPr>
            <a:r>
              <a:rPr sz="1600" b="1" i="0">
                <a:solidFill>
                  <a:srgbClr val="ECEEF6"/>
                </a:solidFill>
                <a:latin typeface="Segoe UI"/>
              </a:rPr>
              <a:t>Business value</a:t>
            </a:r>
          </a:p>
          <a:p>
            <a:pPr algn="l">
              <a:lnSpc>
                <a:spcPct val="125000"/>
              </a:lnSpc>
              <a:spcAft>
                <a:spcPts val="800"/>
              </a:spcAft>
            </a:pPr>
            <a:r>
              <a:rPr sz="1250" b="0" i="0">
                <a:solidFill>
                  <a:srgbClr val="9AA4BC"/>
                </a:solidFill>
                <a:latin typeface="Segoe UI"/>
              </a:rPr>
              <a:t>•  Hours of analyst work → seconds</a:t>
            </a:r>
          </a:p>
          <a:p>
            <a:pPr algn="l">
              <a:lnSpc>
                <a:spcPct val="125000"/>
              </a:lnSpc>
              <a:spcAft>
                <a:spcPts val="800"/>
              </a:spcAft>
            </a:pPr>
            <a:r>
              <a:rPr sz="1250" b="0" i="0">
                <a:solidFill>
                  <a:srgbClr val="9AA4BC"/>
                </a:solidFill>
                <a:latin typeface="Segoe UI"/>
              </a:rPr>
              <a:t>•  Self-serve analytics for non-technical teams</a:t>
            </a:r>
          </a:p>
          <a:p>
            <a:pPr algn="l">
              <a:lnSpc>
                <a:spcPct val="125000"/>
              </a:lnSpc>
              <a:spcAft>
                <a:spcPts val="800"/>
              </a:spcAft>
            </a:pPr>
            <a:r>
              <a:rPr sz="1250" b="0" i="0">
                <a:solidFill>
                  <a:srgbClr val="9AA4BC"/>
                </a:solidFill>
                <a:latin typeface="Segoe UI"/>
              </a:rPr>
              <a:t>•  Consistent, domain-aware reporting</a:t>
            </a:r>
          </a:p>
        </p:txBody>
      </p:sp>
      <p:sp>
        <p:nvSpPr>
          <p:cNvPr id="8" name="Rounded Rectangle 7"/>
          <p:cNvSpPr/>
          <p:nvPr/>
        </p:nvSpPr>
        <p:spPr>
          <a:xfrm>
            <a:off x="4297680" y="1874519"/>
            <a:ext cx="3584448" cy="402336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l">
              <a:lnSpc>
                <a:spcPct val="100000"/>
              </a:lnSpc>
              <a:spcAft>
                <a:spcPts val="600"/>
              </a:spcAft>
            </a:pPr>
            <a:r>
              <a:rPr sz="2600" b="0" i="0">
                <a:solidFill>
                  <a:srgbClr val="38BDF8"/>
                </a:solidFill>
                <a:latin typeface="Segoe UI"/>
              </a:rPr>
              <a:t>🤝</a:t>
            </a:r>
          </a:p>
          <a:p>
            <a:pPr algn="l">
              <a:lnSpc>
                <a:spcPct val="100000"/>
              </a:lnSpc>
              <a:spcAft>
                <a:spcPts val="1000"/>
              </a:spcAft>
            </a:pPr>
            <a:r>
              <a:rPr sz="1600" b="1" i="0">
                <a:solidFill>
                  <a:srgbClr val="ECEEF6"/>
                </a:solidFill>
                <a:latin typeface="Segoe UI"/>
              </a:rPr>
              <a:t>Client value</a:t>
            </a:r>
          </a:p>
          <a:p>
            <a:pPr algn="l">
              <a:lnSpc>
                <a:spcPct val="125000"/>
              </a:lnSpc>
              <a:spcAft>
                <a:spcPts val="800"/>
              </a:spcAft>
            </a:pPr>
            <a:r>
              <a:rPr sz="1250" b="0" i="0">
                <a:solidFill>
                  <a:srgbClr val="9AA4BC"/>
                </a:solidFill>
                <a:latin typeface="Segoe UI"/>
              </a:rPr>
              <a:t>•  White-label branded deliverables</a:t>
            </a:r>
          </a:p>
          <a:p>
            <a:pPr algn="l">
              <a:lnSpc>
                <a:spcPct val="125000"/>
              </a:lnSpc>
              <a:spcAft>
                <a:spcPts val="800"/>
              </a:spcAft>
            </a:pPr>
            <a:r>
              <a:rPr sz="1250" b="0" i="0">
                <a:solidFill>
                  <a:srgbClr val="9AA4BC"/>
                </a:solidFill>
                <a:latin typeface="Segoe UI"/>
              </a:rPr>
              <a:t>•  Deployable &amp; demo-ready in minutes</a:t>
            </a:r>
          </a:p>
          <a:p>
            <a:pPr algn="l">
              <a:lnSpc>
                <a:spcPct val="125000"/>
              </a:lnSpc>
              <a:spcAft>
                <a:spcPts val="800"/>
              </a:spcAft>
            </a:pPr>
            <a:r>
              <a:rPr sz="1250" b="0" i="0">
                <a:solidFill>
                  <a:srgbClr val="9AA4BC"/>
                </a:solidFill>
                <a:latin typeface="Segoe UI"/>
              </a:rPr>
              <a:t>•  Runs with or without an AI budget</a:t>
            </a:r>
          </a:p>
        </p:txBody>
      </p:sp>
      <p:sp>
        <p:nvSpPr>
          <p:cNvPr id="9" name="Rounded Rectangle 8"/>
          <p:cNvSpPr/>
          <p:nvPr/>
        </p:nvSpPr>
        <p:spPr>
          <a:xfrm>
            <a:off x="8046720" y="1874519"/>
            <a:ext cx="3584448" cy="4023360"/>
          </a:xfrm>
          <a:prstGeom prst="roundRect">
            <a:avLst>
              <a:gd name="adj" fmla="val 6000"/>
            </a:avLst>
          </a:prstGeom>
          <a:solidFill>
            <a:srgbClr val="151B2E"/>
          </a:solid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l">
              <a:lnSpc>
                <a:spcPct val="100000"/>
              </a:lnSpc>
              <a:spcAft>
                <a:spcPts val="600"/>
              </a:spcAft>
            </a:pPr>
            <a:r>
              <a:rPr sz="2600" b="0" i="0">
                <a:solidFill>
                  <a:srgbClr val="A855F7"/>
                </a:solidFill>
                <a:latin typeface="Segoe UI"/>
              </a:rPr>
              <a:t>💼</a:t>
            </a:r>
          </a:p>
          <a:p>
            <a:pPr algn="l">
              <a:lnSpc>
                <a:spcPct val="100000"/>
              </a:lnSpc>
              <a:spcAft>
                <a:spcPts val="1000"/>
              </a:spcAft>
            </a:pPr>
            <a:r>
              <a:rPr sz="1600" b="1" i="0">
                <a:solidFill>
                  <a:srgbClr val="ECEEF6"/>
                </a:solidFill>
                <a:latin typeface="Segoe UI"/>
              </a:rPr>
              <a:t>Portfolio value</a:t>
            </a:r>
          </a:p>
          <a:p>
            <a:pPr algn="l">
              <a:lnSpc>
                <a:spcPct val="125000"/>
              </a:lnSpc>
              <a:spcAft>
                <a:spcPts val="800"/>
              </a:spcAft>
            </a:pPr>
            <a:r>
              <a:rPr sz="1250" b="0" i="0">
                <a:solidFill>
                  <a:srgbClr val="9AA4BC"/>
                </a:solidFill>
                <a:latin typeface="Segoe UI"/>
              </a:rPr>
              <a:t>•  Full-stack AI + data engineering</a:t>
            </a:r>
          </a:p>
          <a:p>
            <a:pPr algn="l">
              <a:lnSpc>
                <a:spcPct val="125000"/>
              </a:lnSpc>
              <a:spcAft>
                <a:spcPts val="800"/>
              </a:spcAft>
            </a:pPr>
            <a:r>
              <a:rPr sz="1250" b="0" i="0">
                <a:solidFill>
                  <a:srgbClr val="9AA4BC"/>
                </a:solidFill>
                <a:latin typeface="Segoe UI"/>
              </a:rPr>
              <a:t>•  Clean layered architecture &amp; caching</a:t>
            </a:r>
          </a:p>
          <a:p>
            <a:pPr algn="l">
              <a:lnSpc>
                <a:spcPct val="125000"/>
              </a:lnSpc>
              <a:spcAft>
                <a:spcPts val="800"/>
              </a:spcAft>
            </a:pPr>
            <a:r>
              <a:rPr sz="1250" b="0" i="0">
                <a:solidFill>
                  <a:srgbClr val="9AA4BC"/>
                </a:solidFill>
                <a:latin typeface="Segoe UI"/>
              </a:rPr>
              <a:t>•  LLM orchestration, RAG, NL→SQL, BI</a:t>
            </a:r>
          </a:p>
        </p:txBody>
      </p:sp>
      <p:sp>
        <p:nvSpPr>
          <p:cNvPr id="10" name="Rectangle 9"/>
          <p:cNvSpPr/>
          <p:nvPr/>
        </p:nvSpPr>
        <p:spPr>
          <a:xfrm>
            <a:off x="548640" y="6419088"/>
            <a:ext cx="11091672" cy="12700"/>
          </a:xfrm>
          <a:prstGeom prst="rect">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455664"/>
            <a:ext cx="7315200" cy="274320"/>
          </a:xfrm>
          <a:prstGeom prst="rect">
            <a:avLst/>
          </a:prstGeom>
          <a:noFill/>
        </p:spPr>
        <p:txBody>
          <a:bodyPr wrap="square" anchor="t">
            <a:spAutoFit/>
          </a:bodyPr>
          <a:lstStyle/>
          <a:p>
            <a:pPr algn="l">
              <a:lnSpc>
                <a:spcPct val="105000"/>
              </a:lnSpc>
            </a:pPr>
            <a:r>
              <a:rPr sz="950" b="0" i="0">
                <a:solidFill>
                  <a:srgbClr val="6B7490"/>
                </a:solidFill>
                <a:latin typeface="Segoe UI"/>
              </a:rPr>
              <a:t>AI Data Reporting &amp; Analytics Assistant  ·  v3.0</a:t>
            </a:r>
          </a:p>
        </p:txBody>
      </p:sp>
      <p:sp>
        <p:nvSpPr>
          <p:cNvPr id="12" name="TextBox 11"/>
          <p:cNvSpPr txBox="1"/>
          <p:nvPr/>
        </p:nvSpPr>
        <p:spPr>
          <a:xfrm>
            <a:off x="10241280" y="6455664"/>
            <a:ext cx="1399032" cy="274320"/>
          </a:xfrm>
          <a:prstGeom prst="rect">
            <a:avLst/>
          </a:prstGeom>
          <a:noFill/>
        </p:spPr>
        <p:txBody>
          <a:bodyPr wrap="square" anchor="t">
            <a:spAutoFit/>
          </a:bodyPr>
          <a:lstStyle/>
          <a:p>
            <a:pPr algn="r">
              <a:lnSpc>
                <a:spcPct val="105000"/>
              </a:lnSpc>
            </a:pPr>
            <a:r>
              <a:rPr sz="950" b="0" i="0">
                <a:solidFill>
                  <a:srgbClr val="6B7490"/>
                </a:solidFill>
                <a:latin typeface="Consolas"/>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Oval 1"/>
          <p:cNvSpPr/>
          <p:nvPr/>
        </p:nvSpPr>
        <p:spPr>
          <a:xfrm>
            <a:off x="8686800" y="-1645920"/>
            <a:ext cx="4389120" cy="4389120"/>
          </a:xfrm>
          <a:prstGeom prst="ellipse">
            <a:avLst/>
          </a:prstGeom>
          <a:solidFill>
            <a:srgbClr val="15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4389120"/>
            <a:ext cx="4389120" cy="4389120"/>
          </a:xfrm>
          <a:prstGeom prst="ellipse">
            <a:avLst/>
          </a:prstGeom>
          <a:solidFill>
            <a:srgbClr val="15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063898" cy="731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63898" y="0"/>
            <a:ext cx="4063898" cy="7315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7796" y="0"/>
            <a:ext cx="4063898" cy="7315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868680" cy="868680"/>
          </a:xfrm>
          <a:prstGeom prst="roundRect">
            <a:avLst>
              <a:gd name="adj" fmla="val 22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3000" b="0" i="0">
                <a:solidFill>
                  <a:srgbClr val="FFFFFF"/>
                </a:solidFill>
                <a:latin typeface="Segoe UI"/>
              </a:rPr>
              <a:t>📊</a:t>
            </a:r>
          </a:p>
        </p:txBody>
      </p:sp>
      <p:sp>
        <p:nvSpPr>
          <p:cNvPr id="8" name="TextBox 7"/>
          <p:cNvSpPr txBox="1"/>
          <p:nvPr/>
        </p:nvSpPr>
        <p:spPr>
          <a:xfrm>
            <a:off x="822960" y="3063240"/>
            <a:ext cx="10058400" cy="1005840"/>
          </a:xfrm>
          <a:prstGeom prst="rect">
            <a:avLst/>
          </a:prstGeom>
          <a:noFill/>
        </p:spPr>
        <p:txBody>
          <a:bodyPr wrap="square" anchor="t">
            <a:spAutoFit/>
          </a:bodyPr>
          <a:lstStyle/>
          <a:p>
            <a:pPr algn="l">
              <a:lnSpc>
                <a:spcPct val="105000"/>
              </a:lnSpc>
            </a:pPr>
            <a:r>
              <a:rPr sz="4800" b="1" i="0">
                <a:solidFill>
                  <a:srgbClr val="ECEEF6"/>
                </a:solidFill>
                <a:latin typeface="Segoe UI Semibold"/>
              </a:rPr>
              <a:t>Thank You</a:t>
            </a:r>
          </a:p>
        </p:txBody>
      </p:sp>
      <p:sp>
        <p:nvSpPr>
          <p:cNvPr id="9" name="TextBox 8"/>
          <p:cNvSpPr txBox="1"/>
          <p:nvPr/>
        </p:nvSpPr>
        <p:spPr>
          <a:xfrm>
            <a:off x="841248" y="4160520"/>
            <a:ext cx="10058400" cy="548640"/>
          </a:xfrm>
          <a:prstGeom prst="rect">
            <a:avLst/>
          </a:prstGeom>
          <a:noFill/>
        </p:spPr>
        <p:txBody>
          <a:bodyPr wrap="square" anchor="t">
            <a:spAutoFit/>
          </a:bodyPr>
          <a:lstStyle/>
          <a:p>
            <a:pPr algn="l">
              <a:lnSpc>
                <a:spcPct val="105000"/>
              </a:lnSpc>
            </a:pPr>
            <a:r>
              <a:rPr sz="1800" b="1" i="0">
                <a:solidFill>
                  <a:srgbClr val="A855F7"/>
                </a:solidFill>
                <a:latin typeface="Segoe UI"/>
              </a:rPr>
              <a:t>From raw data to a decision — automatically, in one workspace.</a:t>
            </a:r>
          </a:p>
        </p:txBody>
      </p:sp>
      <p:sp>
        <p:nvSpPr>
          <p:cNvPr id="10" name="Rounded Rectangle 9"/>
          <p:cNvSpPr/>
          <p:nvPr/>
        </p:nvSpPr>
        <p:spPr>
          <a:xfrm>
            <a:off x="841248" y="4892040"/>
            <a:ext cx="4297680" cy="411480"/>
          </a:xfrm>
          <a:prstGeom prst="roundRect">
            <a:avLst>
              <a:gd name="adj" fmla="val 50000"/>
            </a:avLst>
          </a:prstGeom>
          <a:noFill/>
          <a:ln w="12700">
            <a:solidFill>
              <a:srgbClr val="2A334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54864" bIns="54864"/>
          <a:lstStyle/>
          <a:p>
            <a:pPr algn="ctr">
              <a:lnSpc>
                <a:spcPct val="100000"/>
              </a:lnSpc>
            </a:pPr>
            <a:r>
              <a:rPr sz="1200" b="1" i="0">
                <a:solidFill>
                  <a:srgbClr val="38BDF8"/>
                </a:solidFill>
                <a:latin typeface="Segoe UI"/>
              </a:rPr>
              <a:t>▶  streamlit run app.py  ·  localhost:8501</a:t>
            </a:r>
          </a:p>
        </p:txBody>
      </p:sp>
      <p:sp>
        <p:nvSpPr>
          <p:cNvPr id="11" name="TextBox 10"/>
          <p:cNvSpPr txBox="1"/>
          <p:nvPr/>
        </p:nvSpPr>
        <p:spPr>
          <a:xfrm>
            <a:off x="841248" y="5577840"/>
            <a:ext cx="10058400" cy="365760"/>
          </a:xfrm>
          <a:prstGeom prst="rect">
            <a:avLst/>
          </a:prstGeom>
          <a:noFill/>
        </p:spPr>
        <p:txBody>
          <a:bodyPr wrap="square" anchor="t">
            <a:spAutoFit/>
          </a:bodyPr>
          <a:lstStyle/>
          <a:p>
            <a:pPr algn="l">
              <a:lnSpc>
                <a:spcPct val="105000"/>
              </a:lnSpc>
            </a:pPr>
            <a:r>
              <a:rPr sz="1300" b="0" i="0">
                <a:solidFill>
                  <a:srgbClr val="9AA4BC"/>
                </a:solidFill>
                <a:latin typeface="Segoe UI"/>
              </a:rPr>
              <a:t>Your Name  ·  email@example.com  ·  github.com/your-handle</a:t>
            </a:r>
          </a:p>
        </p:txBody>
      </p:sp>
      <p:sp>
        <p:nvSpPr>
          <p:cNvPr id="12" name="Rectangle 11"/>
          <p:cNvSpPr/>
          <p:nvPr/>
        </p:nvSpPr>
        <p:spPr>
          <a:xfrm>
            <a:off x="548640" y="6419088"/>
            <a:ext cx="11091672" cy="12700"/>
          </a:xfrm>
          <a:prstGeom prst="rect">
            <a:avLst/>
          </a:prstGeom>
          <a:solidFill>
            <a:srgbClr val="2A3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455664"/>
            <a:ext cx="7315200" cy="274320"/>
          </a:xfrm>
          <a:prstGeom prst="rect">
            <a:avLst/>
          </a:prstGeom>
          <a:noFill/>
        </p:spPr>
        <p:txBody>
          <a:bodyPr wrap="square" anchor="t">
            <a:spAutoFit/>
          </a:bodyPr>
          <a:lstStyle/>
          <a:p>
            <a:pPr algn="l">
              <a:lnSpc>
                <a:spcPct val="105000"/>
              </a:lnSpc>
            </a:pPr>
            <a:r>
              <a:rPr sz="950" b="0" i="0">
                <a:solidFill>
                  <a:srgbClr val="6B7490"/>
                </a:solidFill>
                <a:latin typeface="Segoe UI"/>
              </a:rPr>
              <a:t>AI Data Reporting &amp; Analytics Assistant  ·  v3.0</a:t>
            </a:r>
          </a:p>
        </p:txBody>
      </p:sp>
      <p:sp>
        <p:nvSpPr>
          <p:cNvPr id="14" name="TextBox 13"/>
          <p:cNvSpPr txBox="1"/>
          <p:nvPr/>
        </p:nvSpPr>
        <p:spPr>
          <a:xfrm>
            <a:off x="10241280" y="6455664"/>
            <a:ext cx="1399032" cy="274320"/>
          </a:xfrm>
          <a:prstGeom prst="rect">
            <a:avLst/>
          </a:prstGeom>
          <a:noFill/>
        </p:spPr>
        <p:txBody>
          <a:bodyPr wrap="square" anchor="t">
            <a:spAutoFit/>
          </a:bodyPr>
          <a:lstStyle/>
          <a:p>
            <a:pPr algn="r">
              <a:lnSpc>
                <a:spcPct val="105000"/>
              </a:lnSpc>
            </a:pPr>
            <a:r>
              <a:rPr sz="950" b="0" i="0">
                <a:solidFill>
                  <a:srgbClr val="6B7490"/>
                </a:solidFill>
                <a:latin typeface="Consolas"/>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