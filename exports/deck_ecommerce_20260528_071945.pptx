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46720" y="0"/>
            <a:ext cx="41422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989320"/>
            <a:ext cx="12188952" cy="86868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6858000" cy="1280160"/>
          </a:xfrm>
          <a:prstGeom prst="rect">
            <a:avLst/>
          </a:prstGeom>
          <a:noFill/>
        </p:spPr>
        <p:txBody>
          <a:bodyPr wrap="square" anchor="t">
            <a:spAutoFit/>
          </a:bodyPr>
          <a:lstStyle/>
          <a:p>
            <a:pPr algn="l"/>
            <a:r>
              <a:rPr sz="4000" b="1">
                <a:solidFill>
                  <a:srgbClr val="FFFFFF"/>
                </a:solidFill>
              </a:rPr>
              <a:t>E-commerce Analytics</a:t>
            </a:r>
          </a:p>
        </p:txBody>
      </p:sp>
      <p:sp>
        <p:nvSpPr>
          <p:cNvPr id="6" name="TextBox 5"/>
          <p:cNvSpPr txBox="1"/>
          <p:nvPr/>
        </p:nvSpPr>
        <p:spPr>
          <a:xfrm>
            <a:off x="640080" y="2926080"/>
            <a:ext cx="6858000" cy="731520"/>
          </a:xfrm>
          <a:prstGeom prst="rect">
            <a:avLst/>
          </a:prstGeom>
          <a:noFill/>
        </p:spPr>
        <p:txBody>
          <a:bodyPr wrap="square" anchor="t">
            <a:spAutoFit/>
          </a:bodyPr>
          <a:lstStyle/>
          <a:p>
            <a:pPr algn="l"/>
            <a:r>
              <a:rPr sz="2600" b="0">
                <a:solidFill>
                  <a:srgbClr val="E0E7FF"/>
                </a:solidFill>
              </a:rPr>
              <a:t>Analytics Report</a:t>
            </a:r>
          </a:p>
        </p:txBody>
      </p:sp>
      <p:sp>
        <p:nvSpPr>
          <p:cNvPr id="7" name="TextBox 6"/>
          <p:cNvSpPr txBox="1"/>
          <p:nvPr/>
        </p:nvSpPr>
        <p:spPr>
          <a:xfrm>
            <a:off x="640080" y="6080760"/>
            <a:ext cx="7315200" cy="457200"/>
          </a:xfrm>
          <a:prstGeom prst="rect">
            <a:avLst/>
          </a:prstGeom>
          <a:noFill/>
        </p:spPr>
        <p:txBody>
          <a:bodyPr wrap="square" anchor="t">
            <a:spAutoFit/>
          </a:bodyPr>
          <a:lstStyle/>
          <a:p>
            <a:pPr algn="l"/>
            <a:r>
              <a:rPr sz="1300" b="0">
                <a:solidFill>
                  <a:srgbClr val="FFFFFF"/>
                </a:solidFill>
              </a:rPr>
              <a:t>Generated May 28, 2026</a:t>
            </a:r>
          </a:p>
        </p:txBody>
      </p:sp>
      <p:sp>
        <p:nvSpPr>
          <p:cNvPr id="8" name="TextBox 7"/>
          <p:cNvSpPr txBox="1"/>
          <p:nvPr/>
        </p:nvSpPr>
        <p:spPr>
          <a:xfrm>
            <a:off x="8321040" y="2194560"/>
            <a:ext cx="3474720" cy="2286000"/>
          </a:xfrm>
          <a:prstGeom prst="rect">
            <a:avLst/>
          </a:prstGeom>
          <a:noFill/>
        </p:spPr>
        <p:txBody>
          <a:bodyPr wrap="square" anchor="t">
            <a:spAutoFit/>
          </a:bodyPr>
          <a:lstStyle/>
          <a:p>
            <a:pPr algn="l"/>
            <a:r>
              <a:rPr sz="1800" b="1">
                <a:solidFill>
                  <a:srgbClr val="FFFFFF"/>
                </a:solidFill>
              </a:rPr>
              <a:t>KPIs · Insights · Visualisations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What's Inside</a:t>
            </a:r>
          </a:p>
        </p:txBody>
      </p:sp>
      <p:sp>
        <p:nvSpPr>
          <p:cNvPr id="5" name="Rectangle 4"/>
          <p:cNvSpPr/>
          <p:nvPr/>
        </p:nvSpPr>
        <p:spPr>
          <a:xfrm>
            <a:off x="457200" y="1417320"/>
            <a:ext cx="164592" cy="50292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71600"/>
            <a:ext cx="10789920" cy="640080"/>
          </a:xfrm>
          <a:prstGeom prst="rect">
            <a:avLst/>
          </a:prstGeom>
          <a:noFill/>
        </p:spPr>
        <p:txBody>
          <a:bodyPr wrap="square" anchor="t">
            <a:spAutoFit/>
          </a:bodyPr>
          <a:lstStyle/>
          <a:p>
            <a:pPr algn="l"/>
            <a:r>
              <a:rPr sz="2000" b="0">
                <a:solidFill>
                  <a:srgbClr val="111827"/>
                </a:solidFill>
              </a:rPr>
              <a:t>Key performance indicators at a glance</a:t>
            </a:r>
          </a:p>
        </p:txBody>
      </p:sp>
      <p:sp>
        <p:nvSpPr>
          <p:cNvPr id="7" name="Rectangle 6"/>
          <p:cNvSpPr/>
          <p:nvPr/>
        </p:nvSpPr>
        <p:spPr>
          <a:xfrm>
            <a:off x="457200" y="2468880"/>
            <a:ext cx="164592" cy="50292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23160"/>
            <a:ext cx="10789920" cy="640080"/>
          </a:xfrm>
          <a:prstGeom prst="rect">
            <a:avLst/>
          </a:prstGeom>
          <a:noFill/>
        </p:spPr>
        <p:txBody>
          <a:bodyPr wrap="square" anchor="t">
            <a:spAutoFit/>
          </a:bodyPr>
          <a:lstStyle/>
          <a:p>
            <a:pPr algn="l"/>
            <a:r>
              <a:rPr sz="2000" b="0">
                <a:solidFill>
                  <a:srgbClr val="111827"/>
                </a:solidFill>
              </a:rPr>
              <a:t>Executive summary and business insights</a:t>
            </a:r>
          </a:p>
        </p:txBody>
      </p:sp>
      <p:sp>
        <p:nvSpPr>
          <p:cNvPr id="9" name="Rectangle 8"/>
          <p:cNvSpPr/>
          <p:nvPr/>
        </p:nvSpPr>
        <p:spPr>
          <a:xfrm>
            <a:off x="457200" y="3520439"/>
            <a:ext cx="164592" cy="50292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474720"/>
            <a:ext cx="10789920" cy="640080"/>
          </a:xfrm>
          <a:prstGeom prst="rect">
            <a:avLst/>
          </a:prstGeom>
          <a:noFill/>
        </p:spPr>
        <p:txBody>
          <a:bodyPr wrap="square" anchor="t">
            <a:spAutoFit/>
          </a:bodyPr>
          <a:lstStyle/>
          <a:p>
            <a:pPr algn="l"/>
            <a:r>
              <a:rPr sz="2000" b="0">
                <a:solidFill>
                  <a:srgbClr val="111827"/>
                </a:solidFill>
              </a:rPr>
              <a:t>Trend and category visualisations</a:t>
            </a:r>
          </a:p>
        </p:txBody>
      </p:sp>
      <p:sp>
        <p:nvSpPr>
          <p:cNvPr id="11" name="Rectangle 10"/>
          <p:cNvSpPr/>
          <p:nvPr/>
        </p:nvSpPr>
        <p:spPr>
          <a:xfrm>
            <a:off x="457200" y="4572000"/>
            <a:ext cx="164592" cy="502920"/>
          </a:xfrm>
          <a:prstGeom prst="rect">
            <a:avLst/>
          </a:prstGeom>
          <a:solidFill>
            <a:srgbClr val="E746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526280"/>
            <a:ext cx="10789920" cy="640080"/>
          </a:xfrm>
          <a:prstGeom prst="rect">
            <a:avLst/>
          </a:prstGeom>
          <a:noFill/>
        </p:spPr>
        <p:txBody>
          <a:bodyPr wrap="square" anchor="t">
            <a:spAutoFit/>
          </a:bodyPr>
          <a:lstStyle/>
          <a:p>
            <a:pPr algn="l"/>
            <a:r>
              <a:rPr sz="2000" b="0">
                <a:solidFill>
                  <a:srgbClr val="111827"/>
                </a:solidFill>
              </a:rPr>
              <a:t>Domain focus: E-commerce Analytics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Key Performance Indicators</a:t>
            </a:r>
          </a:p>
        </p:txBody>
      </p:sp>
      <p:sp>
        <p:nvSpPr>
          <p:cNvPr id="5" name="Rectangle 4"/>
          <p:cNvSpPr/>
          <p:nvPr/>
        </p:nvSpPr>
        <p:spPr>
          <a:xfrm>
            <a:off x="320040" y="1417320"/>
            <a:ext cx="2606040" cy="109728"/>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618488"/>
            <a:ext cx="2386584" cy="411480"/>
          </a:xfrm>
          <a:prstGeom prst="rect">
            <a:avLst/>
          </a:prstGeom>
          <a:noFill/>
        </p:spPr>
        <p:txBody>
          <a:bodyPr wrap="square" anchor="t">
            <a:spAutoFit/>
          </a:bodyPr>
          <a:lstStyle/>
          <a:p>
            <a:pPr algn="l"/>
            <a:r>
              <a:rPr sz="1000" b="0">
                <a:solidFill>
                  <a:srgbClr val="6B7280"/>
                </a:solidFill>
              </a:rPr>
              <a:t>Total Records</a:t>
            </a:r>
          </a:p>
        </p:txBody>
      </p:sp>
      <p:sp>
        <p:nvSpPr>
          <p:cNvPr id="8" name="TextBox 7"/>
          <p:cNvSpPr txBox="1"/>
          <p:nvPr/>
        </p:nvSpPr>
        <p:spPr>
          <a:xfrm>
            <a:off x="429768" y="2075688"/>
            <a:ext cx="2386584" cy="685800"/>
          </a:xfrm>
          <a:prstGeom prst="rect">
            <a:avLst/>
          </a:prstGeom>
          <a:noFill/>
        </p:spPr>
        <p:txBody>
          <a:bodyPr wrap="square" anchor="t">
            <a:spAutoFit/>
          </a:bodyPr>
          <a:lstStyle/>
          <a:p>
            <a:pPr algn="l"/>
            <a:r>
              <a:rPr sz="2400" b="1">
                <a:solidFill>
                  <a:srgbClr val="5046E4"/>
                </a:solidFill>
              </a:rPr>
              <a:t>5,000</a:t>
            </a:r>
          </a:p>
        </p:txBody>
      </p:sp>
      <p:sp>
        <p:nvSpPr>
          <p:cNvPr id="9" name="Rectangle 8"/>
          <p:cNvSpPr/>
          <p:nvPr/>
        </p:nvSpPr>
        <p:spPr>
          <a:xfrm>
            <a:off x="3182112" y="1417320"/>
            <a:ext cx="2606040" cy="109728"/>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82112" y="1527048"/>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618488"/>
            <a:ext cx="2386584" cy="411480"/>
          </a:xfrm>
          <a:prstGeom prst="rect">
            <a:avLst/>
          </a:prstGeom>
          <a:noFill/>
        </p:spPr>
        <p:txBody>
          <a:bodyPr wrap="square" anchor="t">
            <a:spAutoFit/>
          </a:bodyPr>
          <a:lstStyle/>
          <a:p>
            <a:pPr algn="l"/>
            <a:r>
              <a:rPr sz="1000" b="0">
                <a:solidFill>
                  <a:srgbClr val="6B7280"/>
                </a:solidFill>
              </a:rPr>
              <a:t>Avg Order Value</a:t>
            </a:r>
          </a:p>
        </p:txBody>
      </p:sp>
      <p:sp>
        <p:nvSpPr>
          <p:cNvPr id="12" name="TextBox 11"/>
          <p:cNvSpPr txBox="1"/>
          <p:nvPr/>
        </p:nvSpPr>
        <p:spPr>
          <a:xfrm>
            <a:off x="3291840" y="2075688"/>
            <a:ext cx="2386584" cy="685800"/>
          </a:xfrm>
          <a:prstGeom prst="rect">
            <a:avLst/>
          </a:prstGeom>
          <a:noFill/>
        </p:spPr>
        <p:txBody>
          <a:bodyPr wrap="square" anchor="t">
            <a:spAutoFit/>
          </a:bodyPr>
          <a:lstStyle/>
          <a:p>
            <a:pPr algn="l"/>
            <a:r>
              <a:rPr sz="2400" b="1">
                <a:solidFill>
                  <a:srgbClr val="0E9F6E"/>
                </a:solidFill>
              </a:rPr>
              <a:t>$538.4K</a:t>
            </a:r>
          </a:p>
        </p:txBody>
      </p:sp>
      <p:sp>
        <p:nvSpPr>
          <p:cNvPr id="13" name="Rectangle 12"/>
          <p:cNvSpPr/>
          <p:nvPr/>
        </p:nvSpPr>
        <p:spPr>
          <a:xfrm>
            <a:off x="6044183" y="1417320"/>
            <a:ext cx="2606040" cy="109728"/>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44183" y="1527048"/>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1618488"/>
            <a:ext cx="2386584" cy="411480"/>
          </a:xfrm>
          <a:prstGeom prst="rect">
            <a:avLst/>
          </a:prstGeom>
          <a:noFill/>
        </p:spPr>
        <p:txBody>
          <a:bodyPr wrap="square" anchor="t">
            <a:spAutoFit/>
          </a:bodyPr>
          <a:lstStyle/>
          <a:p>
            <a:pPr algn="l"/>
            <a:r>
              <a:rPr sz="1000" b="0">
                <a:solidFill>
                  <a:srgbClr val="6B7280"/>
                </a:solidFill>
              </a:rPr>
              <a:t>Avg Age</a:t>
            </a:r>
          </a:p>
        </p:txBody>
      </p:sp>
      <p:sp>
        <p:nvSpPr>
          <p:cNvPr id="16" name="TextBox 15"/>
          <p:cNvSpPr txBox="1"/>
          <p:nvPr/>
        </p:nvSpPr>
        <p:spPr>
          <a:xfrm>
            <a:off x="6153912" y="2075688"/>
            <a:ext cx="2386584" cy="685800"/>
          </a:xfrm>
          <a:prstGeom prst="rect">
            <a:avLst/>
          </a:prstGeom>
          <a:noFill/>
        </p:spPr>
        <p:txBody>
          <a:bodyPr wrap="square" anchor="t">
            <a:spAutoFit/>
          </a:bodyPr>
          <a:lstStyle/>
          <a:p>
            <a:pPr algn="l"/>
            <a:r>
              <a:rPr sz="2400" b="1">
                <a:solidFill>
                  <a:srgbClr val="E3A008"/>
                </a:solidFill>
              </a:rPr>
              <a:t>48.16</a:t>
            </a:r>
          </a:p>
        </p:txBody>
      </p:sp>
      <p:sp>
        <p:nvSpPr>
          <p:cNvPr id="17" name="Rectangle 16"/>
          <p:cNvSpPr/>
          <p:nvPr/>
        </p:nvSpPr>
        <p:spPr>
          <a:xfrm>
            <a:off x="8906256" y="1417320"/>
            <a:ext cx="2606040" cy="109728"/>
          </a:xfrm>
          <a:prstGeom prst="rect">
            <a:avLst/>
          </a:prstGeom>
          <a:solidFill>
            <a:srgbClr val="E746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06256" y="1527048"/>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15984" y="1618488"/>
            <a:ext cx="2386584" cy="411480"/>
          </a:xfrm>
          <a:prstGeom prst="rect">
            <a:avLst/>
          </a:prstGeom>
          <a:noFill/>
        </p:spPr>
        <p:txBody>
          <a:bodyPr wrap="square" anchor="t">
            <a:spAutoFit/>
          </a:bodyPr>
          <a:lstStyle/>
          <a:p>
            <a:pPr algn="l"/>
            <a:r>
              <a:rPr sz="1000" b="0">
                <a:solidFill>
                  <a:srgbClr val="6B7280"/>
                </a:solidFill>
              </a:rPr>
              <a:t>Avg Total Orders</a:t>
            </a:r>
          </a:p>
        </p:txBody>
      </p:sp>
      <p:sp>
        <p:nvSpPr>
          <p:cNvPr id="20" name="TextBox 19"/>
          <p:cNvSpPr txBox="1"/>
          <p:nvPr/>
        </p:nvSpPr>
        <p:spPr>
          <a:xfrm>
            <a:off x="9015984" y="2075688"/>
            <a:ext cx="2386584" cy="685800"/>
          </a:xfrm>
          <a:prstGeom prst="rect">
            <a:avLst/>
          </a:prstGeom>
          <a:noFill/>
        </p:spPr>
        <p:txBody>
          <a:bodyPr wrap="square" anchor="t">
            <a:spAutoFit/>
          </a:bodyPr>
          <a:lstStyle/>
          <a:p>
            <a:pPr algn="l"/>
            <a:r>
              <a:rPr sz="2400" b="1">
                <a:solidFill>
                  <a:srgbClr val="E74694"/>
                </a:solidFill>
              </a:rPr>
              <a:t>10.03</a:t>
            </a:r>
          </a:p>
        </p:txBody>
      </p:sp>
      <p:sp>
        <p:nvSpPr>
          <p:cNvPr id="21" name="Rectangle 20"/>
          <p:cNvSpPr/>
          <p:nvPr/>
        </p:nvSpPr>
        <p:spPr>
          <a:xfrm>
            <a:off x="320040" y="3090672"/>
            <a:ext cx="2606040" cy="109728"/>
          </a:xfrm>
          <a:prstGeom prst="rect">
            <a:avLst/>
          </a:prstGeom>
          <a:solidFill>
            <a:srgbClr val="3F8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3200400"/>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3291840"/>
            <a:ext cx="2386584" cy="411480"/>
          </a:xfrm>
          <a:prstGeom prst="rect">
            <a:avLst/>
          </a:prstGeom>
          <a:noFill/>
        </p:spPr>
        <p:txBody>
          <a:bodyPr wrap="square" anchor="t">
            <a:spAutoFit/>
          </a:bodyPr>
          <a:lstStyle/>
          <a:p>
            <a:pPr algn="l"/>
            <a:r>
              <a:rPr sz="1000" b="0">
                <a:solidFill>
                  <a:srgbClr val="6B7280"/>
                </a:solidFill>
              </a:rPr>
              <a:t>Avg Last Purchase</a:t>
            </a:r>
          </a:p>
        </p:txBody>
      </p:sp>
      <p:sp>
        <p:nvSpPr>
          <p:cNvPr id="24" name="TextBox 23"/>
          <p:cNvSpPr txBox="1"/>
          <p:nvPr/>
        </p:nvSpPr>
        <p:spPr>
          <a:xfrm>
            <a:off x="429768" y="3749039"/>
            <a:ext cx="2386584" cy="685800"/>
          </a:xfrm>
          <a:prstGeom prst="rect">
            <a:avLst/>
          </a:prstGeom>
          <a:noFill/>
        </p:spPr>
        <p:txBody>
          <a:bodyPr wrap="square" anchor="t">
            <a:spAutoFit/>
          </a:bodyPr>
          <a:lstStyle/>
          <a:p>
            <a:pPr algn="l"/>
            <a:r>
              <a:rPr sz="2400" b="1">
                <a:solidFill>
                  <a:srgbClr val="3F83F8"/>
                </a:solidFill>
              </a:rPr>
              <a:t>180.07</a:t>
            </a:r>
          </a:p>
        </p:txBody>
      </p:sp>
      <p:sp>
        <p:nvSpPr>
          <p:cNvPr id="25" name="Rectangle 24"/>
          <p:cNvSpPr/>
          <p:nvPr/>
        </p:nvSpPr>
        <p:spPr>
          <a:xfrm>
            <a:off x="3182112" y="3090672"/>
            <a:ext cx="2606040" cy="109728"/>
          </a:xfrm>
          <a:prstGeom prst="rect">
            <a:avLst/>
          </a:prstGeom>
          <a:solidFill>
            <a:srgbClr val="F9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82112" y="3200400"/>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3291840"/>
            <a:ext cx="2386584" cy="411480"/>
          </a:xfrm>
          <a:prstGeom prst="rect">
            <a:avLst/>
          </a:prstGeom>
          <a:noFill/>
        </p:spPr>
        <p:txBody>
          <a:bodyPr wrap="square" anchor="t">
            <a:spAutoFit/>
          </a:bodyPr>
          <a:lstStyle/>
          <a:p>
            <a:pPr algn="l"/>
            <a:r>
              <a:rPr sz="1000" b="0">
                <a:solidFill>
                  <a:srgbClr val="6B7280"/>
                </a:solidFill>
              </a:rPr>
              <a:t>Avg Is Fraudulent</a:t>
            </a:r>
          </a:p>
        </p:txBody>
      </p:sp>
      <p:sp>
        <p:nvSpPr>
          <p:cNvPr id="28" name="TextBox 27"/>
          <p:cNvSpPr txBox="1"/>
          <p:nvPr/>
        </p:nvSpPr>
        <p:spPr>
          <a:xfrm>
            <a:off x="3291840" y="3749039"/>
            <a:ext cx="2386584" cy="685800"/>
          </a:xfrm>
          <a:prstGeom prst="rect">
            <a:avLst/>
          </a:prstGeom>
          <a:noFill/>
        </p:spPr>
        <p:txBody>
          <a:bodyPr wrap="square" anchor="t">
            <a:spAutoFit/>
          </a:bodyPr>
          <a:lstStyle/>
          <a:p>
            <a:pPr algn="l"/>
            <a:r>
              <a:rPr sz="2400" b="1">
                <a:solidFill>
                  <a:srgbClr val="F98080"/>
                </a:solidFill>
              </a:rPr>
              <a:t>0.03</a:t>
            </a:r>
          </a:p>
        </p:txBody>
      </p:sp>
      <p:sp>
        <p:nvSpPr>
          <p:cNvPr id="29" name="Rectangle 28"/>
          <p:cNvSpPr/>
          <p:nvPr/>
        </p:nvSpPr>
        <p:spPr>
          <a:xfrm>
            <a:off x="6044183" y="3090672"/>
            <a:ext cx="2606040" cy="109728"/>
          </a:xfrm>
          <a:prstGeom prst="rect">
            <a:avLst/>
          </a:prstGeom>
          <a:solidFill>
            <a:srgbClr val="906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44183" y="3200400"/>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53912" y="3291840"/>
            <a:ext cx="2386584" cy="411480"/>
          </a:xfrm>
          <a:prstGeom prst="rect">
            <a:avLst/>
          </a:prstGeom>
          <a:noFill/>
        </p:spPr>
        <p:txBody>
          <a:bodyPr wrap="square" anchor="t">
            <a:spAutoFit/>
          </a:bodyPr>
          <a:lstStyle/>
          <a:p>
            <a:pPr algn="l"/>
            <a:r>
              <a:rPr sz="1000" b="0">
                <a:solidFill>
                  <a:srgbClr val="6B7280"/>
                </a:solidFill>
              </a:rPr>
              <a:t>Avg Email Open Rate</a:t>
            </a:r>
          </a:p>
        </p:txBody>
      </p:sp>
      <p:sp>
        <p:nvSpPr>
          <p:cNvPr id="32" name="TextBox 31"/>
          <p:cNvSpPr txBox="1"/>
          <p:nvPr/>
        </p:nvSpPr>
        <p:spPr>
          <a:xfrm>
            <a:off x="6153912" y="3749039"/>
            <a:ext cx="2386584" cy="685800"/>
          </a:xfrm>
          <a:prstGeom prst="rect">
            <a:avLst/>
          </a:prstGeom>
          <a:noFill/>
        </p:spPr>
        <p:txBody>
          <a:bodyPr wrap="square" anchor="t">
            <a:spAutoFit/>
          </a:bodyPr>
          <a:lstStyle/>
          <a:p>
            <a:pPr algn="l"/>
            <a:r>
              <a:rPr sz="2400" b="1">
                <a:solidFill>
                  <a:srgbClr val="9061F9"/>
                </a:solidFill>
              </a:rPr>
              <a:t>50.73</a:t>
            </a:r>
          </a:p>
        </p:txBody>
      </p:sp>
      <p:sp>
        <p:nvSpPr>
          <p:cNvPr id="33" name="Rectangle 32"/>
          <p:cNvSpPr/>
          <p:nvPr/>
        </p:nvSpPr>
        <p:spPr>
          <a:xfrm>
            <a:off x="8906256" y="3090672"/>
            <a:ext cx="2606040" cy="109728"/>
          </a:xfrm>
          <a:prstGeom prst="rect">
            <a:avLst/>
          </a:prstGeom>
          <a:solidFill>
            <a:srgbClr val="31C4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3200400"/>
            <a:ext cx="2606040" cy="1307592"/>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15984" y="3291840"/>
            <a:ext cx="2386584" cy="411480"/>
          </a:xfrm>
          <a:prstGeom prst="rect">
            <a:avLst/>
          </a:prstGeom>
          <a:noFill/>
        </p:spPr>
        <p:txBody>
          <a:bodyPr wrap="square" anchor="t">
            <a:spAutoFit/>
          </a:bodyPr>
          <a:lstStyle/>
          <a:p>
            <a:pPr algn="l"/>
            <a:r>
              <a:rPr sz="1000" b="0">
                <a:solidFill>
                  <a:srgbClr val="6B7280"/>
                </a:solidFill>
              </a:rPr>
              <a:t>Avg Loyalty Score</a:t>
            </a:r>
          </a:p>
        </p:txBody>
      </p:sp>
      <p:sp>
        <p:nvSpPr>
          <p:cNvPr id="36" name="TextBox 35"/>
          <p:cNvSpPr txBox="1"/>
          <p:nvPr/>
        </p:nvSpPr>
        <p:spPr>
          <a:xfrm>
            <a:off x="9015984" y="3749039"/>
            <a:ext cx="2386584" cy="685800"/>
          </a:xfrm>
          <a:prstGeom prst="rect">
            <a:avLst/>
          </a:prstGeom>
          <a:noFill/>
        </p:spPr>
        <p:txBody>
          <a:bodyPr wrap="square" anchor="t">
            <a:spAutoFit/>
          </a:bodyPr>
          <a:lstStyle/>
          <a:p>
            <a:pPr algn="l"/>
            <a:r>
              <a:rPr sz="2400" b="1">
                <a:solidFill>
                  <a:srgbClr val="31C48D"/>
                </a:solidFill>
              </a:rPr>
              <a:t>50.04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Key Insights</a:t>
            </a:r>
          </a:p>
        </p:txBody>
      </p:sp>
      <p:sp>
        <p:nvSpPr>
          <p:cNvPr id="5" name="Rectangle 4"/>
          <p:cNvSpPr/>
          <p:nvPr/>
        </p:nvSpPr>
        <p:spPr>
          <a:xfrm>
            <a:off x="411480" y="1417320"/>
            <a:ext cx="109728" cy="68580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17320"/>
            <a:ext cx="10881360" cy="777240"/>
          </a:xfrm>
          <a:prstGeom prst="rect">
            <a:avLst/>
          </a:prstGeom>
          <a:noFill/>
        </p:spPr>
        <p:txBody>
          <a:bodyPr wrap="square" anchor="t">
            <a:spAutoFit/>
          </a:bodyPr>
          <a:lstStyle/>
          <a:p>
            <a:pPr algn="l"/>
            <a:r>
              <a:rPr sz="1500" b="0">
                <a:solidFill>
                  <a:srgbClr val="111827"/>
                </a:solidFill>
              </a:rPr>
              <a:t>This E-commerce Analytics report analyses synthetic_ecommerce_churn_dataset.</a:t>
            </a:r>
          </a:p>
        </p:txBody>
      </p:sp>
      <p:sp>
        <p:nvSpPr>
          <p:cNvPr id="7" name="Rectangle 6"/>
          <p:cNvSpPr/>
          <p:nvPr/>
        </p:nvSpPr>
        <p:spPr>
          <a:xfrm>
            <a:off x="411480" y="2377440"/>
            <a:ext cx="109728" cy="68580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10881360" cy="777240"/>
          </a:xfrm>
          <a:prstGeom prst="rect">
            <a:avLst/>
          </a:prstGeom>
          <a:noFill/>
        </p:spPr>
        <p:txBody>
          <a:bodyPr wrap="square" anchor="t">
            <a:spAutoFit/>
          </a:bodyPr>
          <a:lstStyle/>
          <a:p>
            <a:pPr algn="l"/>
            <a:r>
              <a:rPr sz="1500" b="0">
                <a:solidFill>
                  <a:srgbClr val="111827"/>
                </a:solidFill>
              </a:rPr>
              <a:t>csv, covering 0 records across 0 dimensions.</a:t>
            </a:r>
          </a:p>
        </p:txBody>
      </p:sp>
      <p:sp>
        <p:nvSpPr>
          <p:cNvPr id="9" name="Rectangle 8"/>
          <p:cNvSpPr/>
          <p:nvPr/>
        </p:nvSpPr>
        <p:spPr>
          <a:xfrm>
            <a:off x="411480" y="3337560"/>
            <a:ext cx="109728" cy="68580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337560"/>
            <a:ext cx="10881360" cy="777240"/>
          </a:xfrm>
          <a:prstGeom prst="rect">
            <a:avLst/>
          </a:prstGeom>
          <a:noFill/>
        </p:spPr>
        <p:txBody>
          <a:bodyPr wrap="square" anchor="t">
            <a:spAutoFit/>
          </a:bodyPr>
          <a:lstStyle/>
          <a:p>
            <a:pPr algn="l"/>
            <a:r>
              <a:rPr sz="1500" b="0">
                <a:solidFill>
                  <a:srgbClr val="111827"/>
                </a:solidFill>
              </a:rPr>
              <a:t>The dataset has been automatically cleaned, validated, and scored for quality prior to analysis.</a:t>
            </a:r>
          </a:p>
        </p:txBody>
      </p:sp>
      <p:sp>
        <p:nvSpPr>
          <p:cNvPr id="11" name="Rectangle 10"/>
          <p:cNvSpPr/>
          <p:nvPr/>
        </p:nvSpPr>
        <p:spPr>
          <a:xfrm>
            <a:off x="411480" y="4297680"/>
            <a:ext cx="109728" cy="685800"/>
          </a:xfrm>
          <a:prstGeom prst="rect">
            <a:avLst/>
          </a:prstGeom>
          <a:solidFill>
            <a:srgbClr val="E746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297680"/>
            <a:ext cx="10881360" cy="777240"/>
          </a:xfrm>
          <a:prstGeom prst="rect">
            <a:avLst/>
          </a:prstGeom>
          <a:noFill/>
        </p:spPr>
        <p:txBody>
          <a:bodyPr wrap="square" anchor="t">
            <a:spAutoFit/>
          </a:bodyPr>
          <a:lstStyle/>
          <a:p>
            <a:pPr algn="l"/>
            <a:r>
              <a:rPr sz="1500" b="0">
                <a:solidFill>
                  <a:srgbClr val="111827"/>
                </a:solidFill>
              </a:rPr>
              <a:t>Key performance indicators show: Total Records at 5,000, Avg Order Value at $538.</a:t>
            </a:r>
          </a:p>
        </p:txBody>
      </p:sp>
      <p:sp>
        <p:nvSpPr>
          <p:cNvPr id="13" name="Rectangle 12"/>
          <p:cNvSpPr/>
          <p:nvPr/>
        </p:nvSpPr>
        <p:spPr>
          <a:xfrm>
            <a:off x="411480" y="5257800"/>
            <a:ext cx="109728" cy="685800"/>
          </a:xfrm>
          <a:prstGeom prst="rect">
            <a:avLst/>
          </a:prstGeom>
          <a:solidFill>
            <a:srgbClr val="3F8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257800"/>
            <a:ext cx="10881360" cy="777240"/>
          </a:xfrm>
          <a:prstGeom prst="rect">
            <a:avLst/>
          </a:prstGeom>
          <a:noFill/>
        </p:spPr>
        <p:txBody>
          <a:bodyPr wrap="square" anchor="t">
            <a:spAutoFit/>
          </a:bodyPr>
          <a:lstStyle/>
          <a:p>
            <a:pPr algn="l"/>
            <a:r>
              <a:rPr sz="1500" b="0">
                <a:solidFill>
                  <a:srgbClr val="111827"/>
                </a:solidFill>
              </a:rPr>
              <a:t>16, Avg Total Orders at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Executive Summary</a:t>
            </a:r>
          </a:p>
        </p:txBody>
      </p:sp>
      <p:sp>
        <p:nvSpPr>
          <p:cNvPr id="5" name="TextBox 4"/>
          <p:cNvSpPr txBox="1"/>
          <p:nvPr/>
        </p:nvSpPr>
        <p:spPr>
          <a:xfrm>
            <a:off x="411480" y="1325880"/>
            <a:ext cx="11338560" cy="5212080"/>
          </a:xfrm>
          <a:prstGeom prst="rect">
            <a:avLst/>
          </a:prstGeom>
          <a:noFill/>
        </p:spPr>
        <p:txBody>
          <a:bodyPr wrap="square" anchor="t">
            <a:spAutoFit/>
          </a:bodyPr>
          <a:lstStyle/>
          <a:p>
            <a:pPr algn="l"/>
            <a:r>
              <a:rPr sz="1300" b="0">
                <a:solidFill>
                  <a:srgbClr val="111827"/>
                </a:solidFill>
              </a:rPr>
              <a:t>This E-commerce Analytics report analyses synthetic_ecommerce_churn_dataset.csv, covering 0 records across 0 dimensions. The dataset has been automatically cleaned, validated, and scored for quality prior to analysis.
Key performance indicators show: Total Records at 5,000, Avg Order Value at $538.4K, Avg Age at 48.16, Avg Total Orders at 10.03. No strong directional trends were detected in the current dataset. The domain-specific KPI framework applied is aligned to E-commerce Analytics best practices, ensuring that the metrics presented reflect operationally relevant performance indicators rather than generic statistical averages.
Anomaly detection flagged 4 area(s) requiring attention. These may indicate data quality issues, outlier events, or genuine business extremes that warrant further investigation before operational decisions are made. Particular attention should be given to columns flagged during quality scoring, as these may affect the reliability of aggregated KPI figures.
To unlock AI-generated narrative insights, executive commentary, and natural language recommendations, configure your API key: set ANTHROPIC_API_KEY (Anthropic Claude) or OPENAI_API_KEY (OpenAI GPT-4o) in the .env file and restart the application. The AI layer will then provide domain-specific strategic analysis, anomaly explanations, and prioritised action plans tailored to your E-commerce Anal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Avg Order Value Over Time</a:t>
            </a:r>
          </a:p>
        </p:txBody>
      </p:sp>
      <p:sp>
        <p:nvSpPr>
          <p:cNvPr id="5" name="Rectangle 4"/>
          <p:cNvSpPr/>
          <p:nvPr/>
        </p:nvSpPr>
        <p:spPr>
          <a:xfrm>
            <a:off x="320040" y="1234440"/>
            <a:ext cx="11521440" cy="54406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109728" cy="544068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02920" y="1371600"/>
            <a:ext cx="11155680" cy="5166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Last Purchase Over Time</a:t>
            </a:r>
          </a:p>
        </p:txBody>
      </p:sp>
      <p:sp>
        <p:nvSpPr>
          <p:cNvPr id="5" name="Rectangle 4"/>
          <p:cNvSpPr/>
          <p:nvPr/>
        </p:nvSpPr>
        <p:spPr>
          <a:xfrm>
            <a:off x="320040" y="1234440"/>
            <a:ext cx="11521440" cy="54406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109728" cy="544068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02920" y="1371600"/>
            <a:ext cx="11155680" cy="51663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Avg Order Value by Gender</a:t>
            </a:r>
          </a:p>
        </p:txBody>
      </p:sp>
      <p:sp>
        <p:nvSpPr>
          <p:cNvPr id="5" name="Rectangle 4"/>
          <p:cNvSpPr/>
          <p:nvPr/>
        </p:nvSpPr>
        <p:spPr>
          <a:xfrm>
            <a:off x="320040" y="1234440"/>
            <a:ext cx="11521440" cy="54406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109728" cy="544068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02920" y="1371600"/>
            <a:ext cx="11155680" cy="5166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E746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Avg Order Value by Country</a:t>
            </a:r>
          </a:p>
        </p:txBody>
      </p:sp>
      <p:sp>
        <p:nvSpPr>
          <p:cNvPr id="5" name="Rectangle 4"/>
          <p:cNvSpPr/>
          <p:nvPr/>
        </p:nvSpPr>
        <p:spPr>
          <a:xfrm>
            <a:off x="320040" y="1234440"/>
            <a:ext cx="11521440" cy="54406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109728" cy="5440680"/>
          </a:xfrm>
          <a:prstGeom prst="rect">
            <a:avLst/>
          </a:prstGeom>
          <a:solidFill>
            <a:srgbClr val="E746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02920" y="1371600"/>
            <a:ext cx="11155680" cy="51663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3F8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Distribution: Avg Order Value</a:t>
            </a:r>
          </a:p>
        </p:txBody>
      </p:sp>
      <p:sp>
        <p:nvSpPr>
          <p:cNvPr id="5" name="Rectangle 4"/>
          <p:cNvSpPr/>
          <p:nvPr/>
        </p:nvSpPr>
        <p:spPr>
          <a:xfrm>
            <a:off x="320040" y="1234440"/>
            <a:ext cx="11521440" cy="54406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109728" cy="5440680"/>
          </a:xfrm>
          <a:prstGeom prst="rect">
            <a:avLst/>
          </a:prstGeom>
          <a:solidFill>
            <a:srgbClr val="3F8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02920" y="1371600"/>
            <a:ext cx="11155680" cy="5166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9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515600" cy="822960"/>
          </a:xfrm>
          <a:prstGeom prst="rect">
            <a:avLst/>
          </a:prstGeom>
          <a:noFill/>
        </p:spPr>
        <p:txBody>
          <a:bodyPr wrap="square" anchor="t">
            <a:spAutoFit/>
          </a:bodyPr>
          <a:lstStyle/>
          <a:p>
            <a:pPr algn="l"/>
            <a:r>
              <a:rPr sz="2400" b="1">
                <a:solidFill>
                  <a:srgbClr val="FFFFFF"/>
                </a:solidFill>
              </a:rPr>
              <a:t>Avg Order Value vs Last Purchase</a:t>
            </a:r>
          </a:p>
        </p:txBody>
      </p:sp>
      <p:sp>
        <p:nvSpPr>
          <p:cNvPr id="5" name="Rectangle 4"/>
          <p:cNvSpPr/>
          <p:nvPr/>
        </p:nvSpPr>
        <p:spPr>
          <a:xfrm>
            <a:off x="320040" y="1234440"/>
            <a:ext cx="11521440" cy="544068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109728" cy="5440680"/>
          </a:xfrm>
          <a:prstGeom prst="rect">
            <a:avLst/>
          </a:prstGeom>
          <a:solidFill>
            <a:srgbClr val="F9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02920" y="1371600"/>
            <a:ext cx="11155680" cy="5166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0"/>
            <a:ext cx="12188952" cy="118872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0"/>
            <a:ext cx="10698480" cy="914400"/>
          </a:xfrm>
          <a:prstGeom prst="rect">
            <a:avLst/>
          </a:prstGeom>
          <a:noFill/>
        </p:spPr>
        <p:txBody>
          <a:bodyPr wrap="square" anchor="t">
            <a:spAutoFit/>
          </a:bodyPr>
          <a:lstStyle/>
          <a:p>
            <a:pPr algn="ctr"/>
            <a:r>
              <a:rPr sz="3600" b="1">
                <a:solidFill>
                  <a:srgbClr val="FFFFFF"/>
                </a:solidFill>
              </a:rPr>
              <a:t>Thank You</a:t>
            </a:r>
          </a:p>
        </p:txBody>
      </p:sp>
      <p:sp>
        <p:nvSpPr>
          <p:cNvPr id="5" name="TextBox 4"/>
          <p:cNvSpPr txBox="1"/>
          <p:nvPr/>
        </p:nvSpPr>
        <p:spPr>
          <a:xfrm>
            <a:off x="731520" y="3566160"/>
            <a:ext cx="10698480" cy="640080"/>
          </a:xfrm>
          <a:prstGeom prst="rect">
            <a:avLst/>
          </a:prstGeom>
          <a:noFill/>
        </p:spPr>
        <p:txBody>
          <a:bodyPr wrap="square" anchor="t">
            <a:spAutoFit/>
          </a:bodyPr>
          <a:lstStyle/>
          <a:p>
            <a:pPr algn="ctr"/>
            <a:r>
              <a:rPr sz="2000" b="0">
                <a:solidFill>
                  <a:srgbClr val="E0E7FF"/>
                </a:solidFill>
              </a:rPr>
              <a:t>E-commerce Analytics</a:t>
            </a:r>
          </a:p>
        </p:txBody>
      </p:sp>
      <p:sp>
        <p:nvSpPr>
          <p:cNvPr id="6" name="TextBox 5"/>
          <p:cNvSpPr txBox="1"/>
          <p:nvPr/>
        </p:nvSpPr>
        <p:spPr>
          <a:xfrm>
            <a:off x="731520" y="5897880"/>
            <a:ext cx="10698480" cy="548640"/>
          </a:xfrm>
          <a:prstGeom prst="rect">
            <a:avLst/>
          </a:prstGeom>
          <a:noFill/>
        </p:spPr>
        <p:txBody>
          <a:bodyPr wrap="square" anchor="t">
            <a:spAutoFit/>
          </a:bodyPr>
          <a:lstStyle/>
          <a:p>
            <a:pPr algn="ctr"/>
            <a:r>
              <a:rPr sz="1300" b="0">
                <a:solidFill>
                  <a:srgbClr val="FFFFFF"/>
                </a:solidFill>
              </a:rPr>
              <a:t>Questions? Review the full dashboard or export additional formats.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